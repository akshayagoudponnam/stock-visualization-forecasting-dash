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65" r:id="rId5"/>
    <p:sldId id="279" r:id="rId6"/>
    <p:sldId id="268" r:id="rId7"/>
    <p:sldId id="282" r:id="rId8"/>
    <p:sldId id="269" r:id="rId9"/>
    <p:sldId id="270" r:id="rId10"/>
    <p:sldId id="280" r:id="rId11"/>
    <p:sldId id="272" r:id="rId12"/>
    <p:sldId id="278" r:id="rId13"/>
    <p:sldId id="281" r:id="rId14"/>
    <p:sldId id="273" r:id="rId15"/>
    <p:sldId id="283" r:id="rId16"/>
    <p:sldId id="276" r:id="rId17"/>
    <p:sldId id="277" r:id="rId18"/>
    <p:sldId id="284" r:id="rId19"/>
    <p:sldId id="285" r:id="rId20"/>
    <p:sldId id="286" r:id="rId21"/>
    <p:sldId id="287" r:id="rId22"/>
    <p:sldId id="288" r:id="rId23"/>
    <p:sldId id="289" r:id="rId24"/>
    <p:sldId id="26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00AEE62-B726-4320-8945-B35089A7AEA1}">
          <p14:sldIdLst>
            <p14:sldId id="256"/>
            <p14:sldId id="257"/>
            <p14:sldId id="258"/>
            <p14:sldId id="265"/>
            <p14:sldId id="279"/>
            <p14:sldId id="268"/>
            <p14:sldId id="282"/>
            <p14:sldId id="269"/>
            <p14:sldId id="270"/>
            <p14:sldId id="280"/>
            <p14:sldId id="272"/>
            <p14:sldId id="278"/>
            <p14:sldId id="281"/>
            <p14:sldId id="273"/>
            <p14:sldId id="283"/>
            <p14:sldId id="276"/>
            <p14:sldId id="277"/>
            <p14:sldId id="284"/>
            <p14:sldId id="285"/>
            <p14:sldId id="286"/>
            <p14:sldId id="287"/>
            <p14:sldId id="288"/>
            <p14:sldId id="289"/>
            <p14:sldId id="267"/>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19EA08-FD36-4FFB-B3A9-F54A02841A7D}" v="36" dt="2024-08-28T13:54:12.643"/>
    <p1510:client id="{EA19990A-AEC6-47B0-AF4D-431E7128AE70}" v="21" dt="2024-08-28T08:50:54.8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94660"/>
  </p:normalViewPr>
  <p:slideViewPr>
    <p:cSldViewPr snapToGrid="0">
      <p:cViewPr varScale="1">
        <p:scale>
          <a:sx n="63" d="100"/>
          <a:sy n="63" d="100"/>
        </p:scale>
        <p:origin x="840"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62"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63"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64"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65"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6"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67"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extLst>
      <p:ext uri="{BB962C8B-B14F-4D97-AF65-F5344CB8AC3E}">
        <p14:creationId xmlns:p14="http://schemas.microsoft.com/office/powerpoint/2010/main" val="1558746606"/>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09"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610"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611" name="Date Placeholder 3"/>
          <p:cNvSpPr>
            <a:spLocks noGrp="1"/>
          </p:cNvSpPr>
          <p:nvPr>
            <p:ph type="dt" sz="half" idx="10"/>
          </p:nvPr>
        </p:nvSpPr>
        <p:spPr/>
        <p:txBody>
          <a:bodyPr/>
          <a:lstStyle/>
          <a:p>
            <a:fld id="{4A27E7D1-18E9-4FCA-A891-5E948E9F1D17}" type="datetimeFigureOut">
              <a:rPr lang="en-IN" smtClean="0"/>
              <a:t>25-10-2024</a:t>
            </a:fld>
            <a:endParaRPr lang="en-IN"/>
          </a:p>
        </p:txBody>
      </p:sp>
      <p:sp>
        <p:nvSpPr>
          <p:cNvPr id="1048612" name="Footer Placeholder 4"/>
          <p:cNvSpPr>
            <a:spLocks noGrp="1"/>
          </p:cNvSpPr>
          <p:nvPr>
            <p:ph type="ftr" sz="quarter" idx="11"/>
          </p:nvPr>
        </p:nvSpPr>
        <p:spPr/>
        <p:txBody>
          <a:bodyPr/>
          <a:lstStyle/>
          <a:p>
            <a:endParaRPr lang="en-IN"/>
          </a:p>
        </p:txBody>
      </p:sp>
      <p:sp>
        <p:nvSpPr>
          <p:cNvPr id="1048613"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endParaRPr lang="en-IN"/>
          </a:p>
        </p:txBody>
      </p:sp>
      <p:sp>
        <p:nvSpPr>
          <p:cNvPr id="1048582"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83" name="Date Placeholder 3"/>
          <p:cNvSpPr>
            <a:spLocks noGrp="1"/>
          </p:cNvSpPr>
          <p:nvPr>
            <p:ph type="dt" sz="half" idx="10"/>
          </p:nvPr>
        </p:nvSpPr>
        <p:spPr/>
        <p:txBody>
          <a:bodyPr/>
          <a:lstStyle/>
          <a:p>
            <a:fld id="{4A27E7D1-18E9-4FCA-A891-5E948E9F1D17}" type="datetimeFigureOut">
              <a:rPr lang="en-IN" smtClean="0"/>
              <a:t>25-10-2024</a:t>
            </a:fld>
            <a:endParaRPr lang="en-IN"/>
          </a:p>
        </p:txBody>
      </p:sp>
      <p:sp>
        <p:nvSpPr>
          <p:cNvPr id="1048584" name="Footer Placeholder 4"/>
          <p:cNvSpPr>
            <a:spLocks noGrp="1"/>
          </p:cNvSpPr>
          <p:nvPr>
            <p:ph type="ftr" sz="quarter" idx="11"/>
          </p:nvPr>
        </p:nvSpPr>
        <p:spPr/>
        <p:txBody>
          <a:bodyPr/>
          <a:lstStyle/>
          <a:p>
            <a:endParaRPr lang="en-IN"/>
          </a:p>
        </p:txBody>
      </p:sp>
      <p:sp>
        <p:nvSpPr>
          <p:cNvPr id="1048585"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34"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635"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636" name="Date Placeholder 3"/>
          <p:cNvSpPr>
            <a:spLocks noGrp="1"/>
          </p:cNvSpPr>
          <p:nvPr>
            <p:ph type="dt" sz="half" idx="10"/>
          </p:nvPr>
        </p:nvSpPr>
        <p:spPr/>
        <p:txBody>
          <a:bodyPr/>
          <a:lstStyle/>
          <a:p>
            <a:fld id="{4A27E7D1-18E9-4FCA-A891-5E948E9F1D17}" type="datetimeFigureOut">
              <a:rPr lang="en-IN" smtClean="0"/>
              <a:t>25-10-2024</a:t>
            </a:fld>
            <a:endParaRPr lang="en-IN"/>
          </a:p>
        </p:txBody>
      </p:sp>
      <p:sp>
        <p:nvSpPr>
          <p:cNvPr id="1048637" name="Footer Placeholder 4"/>
          <p:cNvSpPr>
            <a:spLocks noGrp="1"/>
          </p:cNvSpPr>
          <p:nvPr>
            <p:ph type="ftr" sz="quarter" idx="11"/>
          </p:nvPr>
        </p:nvSpPr>
        <p:spPr/>
        <p:txBody>
          <a:bodyPr/>
          <a:lstStyle/>
          <a:p>
            <a:endParaRPr lang="en-IN"/>
          </a:p>
        </p:txBody>
      </p:sp>
      <p:sp>
        <p:nvSpPr>
          <p:cNvPr id="1048638"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39" name="Title 1"/>
          <p:cNvSpPr>
            <a:spLocks noGrp="1"/>
          </p:cNvSpPr>
          <p:nvPr>
            <p:ph type="title"/>
          </p:nvPr>
        </p:nvSpPr>
        <p:spPr/>
        <p:txBody>
          <a:bodyPr/>
          <a:lstStyle/>
          <a:p>
            <a:r>
              <a:rPr lang="en-US"/>
              <a:t>Click to edit Master title style</a:t>
            </a:r>
            <a:endParaRPr lang="en-IN"/>
          </a:p>
        </p:txBody>
      </p:sp>
      <p:sp>
        <p:nvSpPr>
          <p:cNvPr id="1048640"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1"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2" name="Date Placeholder 4"/>
          <p:cNvSpPr>
            <a:spLocks noGrp="1"/>
          </p:cNvSpPr>
          <p:nvPr>
            <p:ph type="dt" sz="half" idx="10"/>
          </p:nvPr>
        </p:nvSpPr>
        <p:spPr/>
        <p:txBody>
          <a:bodyPr/>
          <a:lstStyle/>
          <a:p>
            <a:fld id="{4A27E7D1-18E9-4FCA-A891-5E948E9F1D17}" type="datetimeFigureOut">
              <a:rPr lang="en-IN" smtClean="0"/>
              <a:t>25-10-2024</a:t>
            </a:fld>
            <a:endParaRPr lang="en-IN"/>
          </a:p>
        </p:txBody>
      </p:sp>
      <p:sp>
        <p:nvSpPr>
          <p:cNvPr id="1048643" name="Footer Placeholder 5"/>
          <p:cNvSpPr>
            <a:spLocks noGrp="1"/>
          </p:cNvSpPr>
          <p:nvPr>
            <p:ph type="ftr" sz="quarter" idx="11"/>
          </p:nvPr>
        </p:nvSpPr>
        <p:spPr/>
        <p:txBody>
          <a:bodyPr/>
          <a:lstStyle/>
          <a:p>
            <a:endParaRPr lang="en-IN"/>
          </a:p>
        </p:txBody>
      </p:sp>
      <p:sp>
        <p:nvSpPr>
          <p:cNvPr id="1048644" name="Slide Number Placeholder 6"/>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45"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646"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7"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8"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9"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0" name="Date Placeholder 6"/>
          <p:cNvSpPr>
            <a:spLocks noGrp="1"/>
          </p:cNvSpPr>
          <p:nvPr>
            <p:ph type="dt" sz="half" idx="10"/>
          </p:nvPr>
        </p:nvSpPr>
        <p:spPr/>
        <p:txBody>
          <a:bodyPr/>
          <a:lstStyle/>
          <a:p>
            <a:fld id="{4A27E7D1-18E9-4FCA-A891-5E948E9F1D17}" type="datetimeFigureOut">
              <a:rPr lang="en-IN" smtClean="0"/>
              <a:t>25-10-2024</a:t>
            </a:fld>
            <a:endParaRPr lang="en-IN"/>
          </a:p>
        </p:txBody>
      </p:sp>
      <p:sp>
        <p:nvSpPr>
          <p:cNvPr id="1048651" name="Footer Placeholder 7"/>
          <p:cNvSpPr>
            <a:spLocks noGrp="1"/>
          </p:cNvSpPr>
          <p:nvPr>
            <p:ph type="ftr" sz="quarter" idx="11"/>
          </p:nvPr>
        </p:nvSpPr>
        <p:spPr/>
        <p:txBody>
          <a:bodyPr/>
          <a:lstStyle/>
          <a:p>
            <a:endParaRPr lang="en-IN"/>
          </a:p>
        </p:txBody>
      </p:sp>
      <p:sp>
        <p:nvSpPr>
          <p:cNvPr id="1048652" name="Slide Number Placeholder 8"/>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14" name="Title 1"/>
          <p:cNvSpPr>
            <a:spLocks noGrp="1"/>
          </p:cNvSpPr>
          <p:nvPr>
            <p:ph type="title"/>
          </p:nvPr>
        </p:nvSpPr>
        <p:spPr/>
        <p:txBody>
          <a:bodyPr/>
          <a:lstStyle/>
          <a:p>
            <a:r>
              <a:rPr lang="en-US"/>
              <a:t>Click to edit Master title style</a:t>
            </a:r>
            <a:endParaRPr lang="en-IN"/>
          </a:p>
        </p:txBody>
      </p:sp>
      <p:sp>
        <p:nvSpPr>
          <p:cNvPr id="1048615" name="Date Placeholder 2"/>
          <p:cNvSpPr>
            <a:spLocks noGrp="1"/>
          </p:cNvSpPr>
          <p:nvPr>
            <p:ph type="dt" sz="half" idx="10"/>
          </p:nvPr>
        </p:nvSpPr>
        <p:spPr/>
        <p:txBody>
          <a:bodyPr/>
          <a:lstStyle/>
          <a:p>
            <a:fld id="{4A27E7D1-18E9-4FCA-A891-5E948E9F1D17}" type="datetimeFigureOut">
              <a:rPr lang="en-IN" smtClean="0"/>
              <a:t>25-10-2024</a:t>
            </a:fld>
            <a:endParaRPr lang="en-IN"/>
          </a:p>
        </p:txBody>
      </p:sp>
      <p:sp>
        <p:nvSpPr>
          <p:cNvPr id="1048616" name="Footer Placeholder 3"/>
          <p:cNvSpPr>
            <a:spLocks noGrp="1"/>
          </p:cNvSpPr>
          <p:nvPr>
            <p:ph type="ftr" sz="quarter" idx="11"/>
          </p:nvPr>
        </p:nvSpPr>
        <p:spPr/>
        <p:txBody>
          <a:bodyPr/>
          <a:lstStyle/>
          <a:p>
            <a:endParaRPr lang="en-IN"/>
          </a:p>
        </p:txBody>
      </p:sp>
      <p:sp>
        <p:nvSpPr>
          <p:cNvPr id="1048617" name="Slide Number Placeholder 4"/>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53" name="Date Placeholder 1"/>
          <p:cNvSpPr>
            <a:spLocks noGrp="1"/>
          </p:cNvSpPr>
          <p:nvPr>
            <p:ph type="dt" sz="half" idx="10"/>
          </p:nvPr>
        </p:nvSpPr>
        <p:spPr/>
        <p:txBody>
          <a:bodyPr/>
          <a:lstStyle/>
          <a:p>
            <a:fld id="{4A27E7D1-18E9-4FCA-A891-5E948E9F1D17}" type="datetimeFigureOut">
              <a:rPr lang="en-IN" smtClean="0"/>
              <a:t>25-10-2024</a:t>
            </a:fld>
            <a:endParaRPr lang="en-IN"/>
          </a:p>
        </p:txBody>
      </p:sp>
      <p:sp>
        <p:nvSpPr>
          <p:cNvPr id="1048654" name="Footer Placeholder 2"/>
          <p:cNvSpPr>
            <a:spLocks noGrp="1"/>
          </p:cNvSpPr>
          <p:nvPr>
            <p:ph type="ftr" sz="quarter" idx="11"/>
          </p:nvPr>
        </p:nvSpPr>
        <p:spPr/>
        <p:txBody>
          <a:bodyPr/>
          <a:lstStyle/>
          <a:p>
            <a:endParaRPr lang="en-IN"/>
          </a:p>
        </p:txBody>
      </p:sp>
      <p:sp>
        <p:nvSpPr>
          <p:cNvPr id="1048655" name="Slide Number Placeholder 3"/>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56"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57"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8"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59" name="Date Placeholder 4"/>
          <p:cNvSpPr>
            <a:spLocks noGrp="1"/>
          </p:cNvSpPr>
          <p:nvPr>
            <p:ph type="dt" sz="half" idx="10"/>
          </p:nvPr>
        </p:nvSpPr>
        <p:spPr/>
        <p:txBody>
          <a:bodyPr/>
          <a:lstStyle/>
          <a:p>
            <a:fld id="{4A27E7D1-18E9-4FCA-A891-5E948E9F1D17}" type="datetimeFigureOut">
              <a:rPr lang="en-IN" smtClean="0"/>
              <a:t>25-10-2024</a:t>
            </a:fld>
            <a:endParaRPr lang="en-IN"/>
          </a:p>
        </p:txBody>
      </p:sp>
      <p:sp>
        <p:nvSpPr>
          <p:cNvPr id="1048660" name="Footer Placeholder 5"/>
          <p:cNvSpPr>
            <a:spLocks noGrp="1"/>
          </p:cNvSpPr>
          <p:nvPr>
            <p:ph type="ftr" sz="quarter" idx="11"/>
          </p:nvPr>
        </p:nvSpPr>
        <p:spPr/>
        <p:txBody>
          <a:bodyPr/>
          <a:lstStyle/>
          <a:p>
            <a:endParaRPr lang="en-IN"/>
          </a:p>
        </p:txBody>
      </p:sp>
      <p:sp>
        <p:nvSpPr>
          <p:cNvPr id="1048661" name="Slide Number Placeholder 6"/>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23"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24"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1048625"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26" name="Date Placeholder 4"/>
          <p:cNvSpPr>
            <a:spLocks noGrp="1"/>
          </p:cNvSpPr>
          <p:nvPr>
            <p:ph type="dt" sz="half" idx="10"/>
          </p:nvPr>
        </p:nvSpPr>
        <p:spPr/>
        <p:txBody>
          <a:bodyPr/>
          <a:lstStyle/>
          <a:p>
            <a:fld id="{4A27E7D1-18E9-4FCA-A891-5E948E9F1D17}" type="datetimeFigureOut">
              <a:rPr lang="en-IN" smtClean="0"/>
              <a:t>25-10-2024</a:t>
            </a:fld>
            <a:endParaRPr lang="en-IN"/>
          </a:p>
        </p:txBody>
      </p:sp>
      <p:sp>
        <p:nvSpPr>
          <p:cNvPr id="1048627" name="Footer Placeholder 5"/>
          <p:cNvSpPr>
            <a:spLocks noGrp="1"/>
          </p:cNvSpPr>
          <p:nvPr>
            <p:ph type="ftr" sz="quarter" idx="11"/>
          </p:nvPr>
        </p:nvSpPr>
        <p:spPr/>
        <p:txBody>
          <a:bodyPr/>
          <a:lstStyle/>
          <a:p>
            <a:endParaRPr lang="en-IN"/>
          </a:p>
        </p:txBody>
      </p:sp>
      <p:sp>
        <p:nvSpPr>
          <p:cNvPr id="1048628" name="Slide Number Placeholder 6"/>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29" name="Title 1"/>
          <p:cNvSpPr>
            <a:spLocks noGrp="1"/>
          </p:cNvSpPr>
          <p:nvPr>
            <p:ph type="title"/>
          </p:nvPr>
        </p:nvSpPr>
        <p:spPr/>
        <p:txBody>
          <a:bodyPr/>
          <a:lstStyle/>
          <a:p>
            <a:r>
              <a:rPr lang="en-US"/>
              <a:t>Click to edit Master title style</a:t>
            </a:r>
            <a:endParaRPr lang="en-IN"/>
          </a:p>
        </p:txBody>
      </p:sp>
      <p:sp>
        <p:nvSpPr>
          <p:cNvPr id="1048630"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31" name="Date Placeholder 3"/>
          <p:cNvSpPr>
            <a:spLocks noGrp="1"/>
          </p:cNvSpPr>
          <p:nvPr>
            <p:ph type="dt" sz="half" idx="10"/>
          </p:nvPr>
        </p:nvSpPr>
        <p:spPr/>
        <p:txBody>
          <a:bodyPr/>
          <a:lstStyle/>
          <a:p>
            <a:fld id="{4A27E7D1-18E9-4FCA-A891-5E948E9F1D17}" type="datetimeFigureOut">
              <a:rPr lang="en-IN" smtClean="0"/>
              <a:t>25-10-2024</a:t>
            </a:fld>
            <a:endParaRPr lang="en-IN"/>
          </a:p>
        </p:txBody>
      </p:sp>
      <p:sp>
        <p:nvSpPr>
          <p:cNvPr id="1048632" name="Footer Placeholder 4"/>
          <p:cNvSpPr>
            <a:spLocks noGrp="1"/>
          </p:cNvSpPr>
          <p:nvPr>
            <p:ph type="ftr" sz="quarter" idx="11"/>
          </p:nvPr>
        </p:nvSpPr>
        <p:spPr/>
        <p:txBody>
          <a:bodyPr/>
          <a:lstStyle/>
          <a:p>
            <a:endParaRPr lang="en-IN"/>
          </a:p>
        </p:txBody>
      </p:sp>
      <p:sp>
        <p:nvSpPr>
          <p:cNvPr id="1048633"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18"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619"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20" name="Date Placeholder 3"/>
          <p:cNvSpPr>
            <a:spLocks noGrp="1"/>
          </p:cNvSpPr>
          <p:nvPr>
            <p:ph type="dt" sz="half" idx="10"/>
          </p:nvPr>
        </p:nvSpPr>
        <p:spPr/>
        <p:txBody>
          <a:bodyPr/>
          <a:lstStyle/>
          <a:p>
            <a:fld id="{4A27E7D1-18E9-4FCA-A891-5E948E9F1D17}" type="datetimeFigureOut">
              <a:rPr lang="en-IN" smtClean="0"/>
              <a:t>25-10-2024</a:t>
            </a:fld>
            <a:endParaRPr lang="en-IN"/>
          </a:p>
        </p:txBody>
      </p:sp>
      <p:sp>
        <p:nvSpPr>
          <p:cNvPr id="1048621" name="Footer Placeholder 4"/>
          <p:cNvSpPr>
            <a:spLocks noGrp="1"/>
          </p:cNvSpPr>
          <p:nvPr>
            <p:ph type="ftr" sz="quarter" idx="11"/>
          </p:nvPr>
        </p:nvSpPr>
        <p:spPr/>
        <p:txBody>
          <a:bodyPr/>
          <a:lstStyle/>
          <a:p>
            <a:endParaRPr lang="en-IN"/>
          </a:p>
        </p:txBody>
      </p:sp>
      <p:sp>
        <p:nvSpPr>
          <p:cNvPr id="1048622"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27E7D1-18E9-4FCA-A891-5E948E9F1D17}" type="datetimeFigureOut">
              <a:rPr lang="en-IN" smtClean="0"/>
              <a:t>25-10-2024</a:t>
            </a:fld>
            <a:endParaRPr lang="en-IN"/>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024382-CAFE-4BC1-8D04-999FB0D8C64E}"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1048587" name="object 3"/>
          <p:cNvSpPr txBox="1">
            <a:spLocks noGrp="1"/>
          </p:cNvSpPr>
          <p:nvPr>
            <p:ph type="title"/>
          </p:nvPr>
        </p:nvSpPr>
        <p:spPr>
          <a:xfrm>
            <a:off x="1725003" y="179054"/>
            <a:ext cx="8412480" cy="1120820"/>
          </a:xfrm>
          <a:prstGeom prst="rect">
            <a:avLst/>
          </a:prstGeom>
        </p:spPr>
        <p:txBody>
          <a:bodyPr vert="horz" wrap="square" lIns="0" tIns="12700" rIns="0" bIns="0" rtlCol="0">
            <a:spAutoFit/>
          </a:bodyPr>
          <a:lstStyle/>
          <a:p>
            <a:pPr marL="12700" algn="ctr">
              <a:lnSpc>
                <a:spcPct val="100000"/>
              </a:lnSpc>
              <a:spcBef>
                <a:spcPts val="100"/>
              </a:spcBef>
            </a:pPr>
            <a:r>
              <a:rPr lang="en-US" sz="3600" b="1" dirty="0">
                <a:solidFill>
                  <a:srgbClr val="FF0000"/>
                </a:solidFill>
                <a:latin typeface="Times New Roman" panose="02020603050405020304" pitchFamily="18" charset="0"/>
                <a:cs typeface="Times New Roman" panose="02020603050405020304" pitchFamily="18" charset="0"/>
              </a:rPr>
              <a:t>VISUALISING AND FORECASTING STOCKS USING DASH</a:t>
            </a:r>
          </a:p>
        </p:txBody>
      </p:sp>
      <p:sp>
        <p:nvSpPr>
          <p:cNvPr id="1048588" name="object 5"/>
          <p:cNvSpPr txBox="1"/>
          <p:nvPr/>
        </p:nvSpPr>
        <p:spPr>
          <a:xfrm>
            <a:off x="3623373" y="2250842"/>
            <a:ext cx="4755325" cy="320601"/>
          </a:xfrm>
          <a:prstGeom prst="rect">
            <a:avLst/>
          </a:prstGeom>
        </p:spPr>
        <p:txBody>
          <a:bodyPr vert="horz" wrap="square" lIns="0" tIns="12700" rIns="0" bIns="0" rtlCol="0">
            <a:spAutoFit/>
          </a:bodyPr>
          <a:lstStyle/>
          <a:p>
            <a:pPr marL="100965"/>
            <a:r>
              <a:rPr lang="en-IN" sz="2000" b="1" spc="-10" dirty="0">
                <a:latin typeface="Times New Roman" panose="02020603050405020304" pitchFamily="18" charset="0"/>
                <a:cs typeface="Times New Roman" panose="02020603050405020304" pitchFamily="18" charset="0"/>
              </a:rPr>
              <a:t>2211CS050086		P. B .Akshaya</a:t>
            </a:r>
          </a:p>
        </p:txBody>
      </p:sp>
      <p:sp>
        <p:nvSpPr>
          <p:cNvPr id="1048589" name="object 6"/>
          <p:cNvSpPr txBox="1"/>
          <p:nvPr/>
        </p:nvSpPr>
        <p:spPr>
          <a:xfrm>
            <a:off x="3623372" y="5088548"/>
            <a:ext cx="4941952" cy="1273937"/>
          </a:xfrm>
          <a:prstGeom prst="rect">
            <a:avLst/>
          </a:prstGeom>
        </p:spPr>
        <p:txBody>
          <a:bodyPr vert="horz" wrap="square" lIns="0" tIns="58419" rIns="0" bIns="0" rtlCol="0">
            <a:spAutoFit/>
          </a:bodyPr>
          <a:lstStyle/>
          <a:p>
            <a:pPr marL="12700" marR="5080" indent="-635" algn="ctr">
              <a:lnSpc>
                <a:spcPct val="104900"/>
              </a:lnSpc>
            </a:pPr>
            <a:r>
              <a:rPr lang="en-IN" b="1" spc="-5" dirty="0">
                <a:solidFill>
                  <a:srgbClr val="0004A1"/>
                </a:solidFill>
                <a:latin typeface="+mj-lt"/>
                <a:cs typeface="Perpetua"/>
              </a:rPr>
              <a:t>Department of IOT</a:t>
            </a:r>
          </a:p>
          <a:p>
            <a:pPr marL="12700" marR="5080" indent="-635" algn="ctr">
              <a:lnSpc>
                <a:spcPct val="104900"/>
              </a:lnSpc>
            </a:pPr>
            <a:r>
              <a:rPr lang="en-IN" b="1" spc="-5" dirty="0">
                <a:solidFill>
                  <a:srgbClr val="0004A1"/>
                </a:solidFill>
                <a:latin typeface="+mj-lt"/>
                <a:cs typeface="Perpetua"/>
              </a:rPr>
              <a:t>School of Engineering</a:t>
            </a:r>
          </a:p>
          <a:p>
            <a:pPr marL="12700" marR="5080" indent="-635" algn="ctr">
              <a:lnSpc>
                <a:spcPct val="104900"/>
              </a:lnSpc>
            </a:pPr>
            <a:r>
              <a:rPr lang="en-IN" sz="2000" b="1" spc="-15" dirty="0">
                <a:solidFill>
                  <a:srgbClr val="0004A1"/>
                </a:solidFill>
                <a:latin typeface="+mj-lt"/>
                <a:cs typeface="Perpetua"/>
              </a:rPr>
              <a:t>Malla Reddy University</a:t>
            </a:r>
          </a:p>
          <a:p>
            <a:pPr marL="12700" marR="5080" indent="-635" algn="ctr">
              <a:lnSpc>
                <a:spcPct val="104900"/>
              </a:lnSpc>
            </a:pPr>
            <a:r>
              <a:rPr lang="en-IN" sz="2000" b="1" spc="-5" dirty="0">
                <a:solidFill>
                  <a:srgbClr val="0004A1"/>
                </a:solidFill>
                <a:latin typeface="+mj-lt"/>
                <a:cs typeface="Perpetua"/>
              </a:rPr>
              <a:t>Hyderabad, </a:t>
            </a:r>
            <a:r>
              <a:rPr lang="en-IN" sz="2000" b="1" spc="-70" dirty="0">
                <a:solidFill>
                  <a:srgbClr val="0004A1"/>
                </a:solidFill>
                <a:latin typeface="+mj-lt"/>
                <a:cs typeface="Perpetua"/>
              </a:rPr>
              <a:t>Telangana,</a:t>
            </a:r>
            <a:r>
              <a:rPr lang="en-IN" sz="2000" b="1" spc="-305" dirty="0">
                <a:solidFill>
                  <a:srgbClr val="0004A1"/>
                </a:solidFill>
                <a:latin typeface="+mj-lt"/>
                <a:cs typeface="Perpetua"/>
              </a:rPr>
              <a:t>  </a:t>
            </a:r>
            <a:r>
              <a:rPr lang="en-IN" sz="2000" b="1" spc="-5" dirty="0">
                <a:solidFill>
                  <a:srgbClr val="0004A1"/>
                </a:solidFill>
                <a:latin typeface="+mj-lt"/>
                <a:cs typeface="Perpetua"/>
              </a:rPr>
              <a:t>INDIA</a:t>
            </a:r>
            <a:endParaRPr lang="en-IN" sz="2000" dirty="0">
              <a:latin typeface="+mj-lt"/>
              <a:cs typeface="Perpetua"/>
            </a:endParaRPr>
          </a:p>
        </p:txBody>
      </p:sp>
      <p:pic>
        <p:nvPicPr>
          <p:cNvPr id="2097152" name="object 7"/>
          <p:cNvPicPr>
            <a:picLocks/>
          </p:cNvPicPr>
          <p:nvPr/>
        </p:nvPicPr>
        <p:blipFill>
          <a:blip r:embed="rId2" cstate="print"/>
          <a:stretch>
            <a:fillRect/>
          </a:stretch>
        </p:blipFill>
        <p:spPr>
          <a:xfrm>
            <a:off x="609600" y="4693422"/>
            <a:ext cx="1752600" cy="1680972"/>
          </a:xfrm>
          <a:prstGeom prst="rect">
            <a:avLst/>
          </a:prstGeom>
        </p:spPr>
      </p:pic>
      <p:sp>
        <p:nvSpPr>
          <p:cNvPr id="1048590" name="TextBox 7"/>
          <p:cNvSpPr txBox="1"/>
          <p:nvPr/>
        </p:nvSpPr>
        <p:spPr>
          <a:xfrm>
            <a:off x="3553581" y="3416870"/>
            <a:ext cx="4755324" cy="720710"/>
          </a:xfrm>
          <a:prstGeom prst="rect">
            <a:avLst/>
          </a:prstGeom>
          <a:noFill/>
        </p:spPr>
        <p:txBody>
          <a:bodyPr wrap="square" rtlCol="0">
            <a:spAutoFit/>
          </a:bodyPr>
          <a:lstStyle/>
          <a:p>
            <a:pPr marL="12700" algn="ctr">
              <a:spcBef>
                <a:spcPts val="120"/>
              </a:spcBef>
            </a:pPr>
            <a:r>
              <a:rPr lang="en-IN" sz="2000" b="1" dirty="0">
                <a:latin typeface="+mj-lt"/>
                <a:cs typeface="Arial" panose="020B0604020202020204" pitchFamily="34" charset="0"/>
              </a:rPr>
              <a:t>Under </a:t>
            </a:r>
            <a:r>
              <a:rPr lang="en-IN" sz="2000" b="1" spc="-5" dirty="0">
                <a:latin typeface="+mj-lt"/>
                <a:cs typeface="Arial" panose="020B0604020202020204" pitchFamily="34" charset="0"/>
              </a:rPr>
              <a:t>the </a:t>
            </a:r>
            <a:r>
              <a:rPr lang="en-IN" sz="2000" b="1" dirty="0">
                <a:latin typeface="+mj-lt"/>
                <a:cs typeface="Arial" panose="020B0604020202020204" pitchFamily="34" charset="0"/>
              </a:rPr>
              <a:t>Guidance</a:t>
            </a:r>
            <a:r>
              <a:rPr lang="en-IN" sz="2000" b="1" spc="-105" dirty="0">
                <a:latin typeface="+mj-lt"/>
                <a:cs typeface="Arial" panose="020B0604020202020204" pitchFamily="34" charset="0"/>
              </a:rPr>
              <a:t> </a:t>
            </a:r>
            <a:r>
              <a:rPr lang="en-IN" sz="2000" b="1" dirty="0">
                <a:latin typeface="+mj-lt"/>
                <a:cs typeface="Arial" panose="020B0604020202020204" pitchFamily="34" charset="0"/>
              </a:rPr>
              <a:t>of</a:t>
            </a:r>
          </a:p>
          <a:p>
            <a:pPr marL="12700" algn="ctr">
              <a:spcBef>
                <a:spcPts val="120"/>
              </a:spcBef>
            </a:pPr>
            <a:r>
              <a:rPr lang="en-US" sz="2000" b="1" spc="-40" dirty="0">
                <a:solidFill>
                  <a:srgbClr val="FF0000"/>
                </a:solidFill>
                <a:latin typeface="+mj-lt"/>
                <a:cs typeface="Arial" panose="020B0604020202020204" pitchFamily="34" charset="0"/>
              </a:rPr>
              <a:t>Guide Name : Mrs. B. Swetha</a:t>
            </a:r>
            <a:endParaRPr lang="en-IN" b="1" spc="-40" dirty="0">
              <a:solidFill>
                <a:srgbClr val="FF0000"/>
              </a:solidFill>
              <a:latin typeface="+mj-lt"/>
              <a:cs typeface="Arial" panose="020B0604020202020204" pitchFamily="34" charset="0"/>
            </a:endParaRPr>
          </a:p>
        </p:txBody>
      </p:sp>
      <p:sp>
        <p:nvSpPr>
          <p:cNvPr id="1048591" name="TextBox 8"/>
          <p:cNvSpPr txBox="1"/>
          <p:nvPr/>
        </p:nvSpPr>
        <p:spPr>
          <a:xfrm>
            <a:off x="5708821" y="1408825"/>
            <a:ext cx="444845" cy="369332"/>
          </a:xfrm>
          <a:prstGeom prst="rect">
            <a:avLst/>
          </a:prstGeom>
          <a:noFill/>
        </p:spPr>
        <p:txBody>
          <a:bodyPr wrap="square" rtlCol="0">
            <a:spAutoFit/>
          </a:bodyPr>
          <a:lstStyle/>
          <a:p>
            <a:r>
              <a:rPr lang="en-US" dirty="0"/>
              <a:t>By</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1048593" name="Title 1"/>
          <p:cNvSpPr txBox="1"/>
          <p:nvPr/>
        </p:nvSpPr>
        <p:spPr>
          <a:xfrm>
            <a:off x="426720" y="193041"/>
            <a:ext cx="11079480" cy="944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solidFill>
                  <a:srgbClr val="002060"/>
                </a:solidFill>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368D1A8-A519-5053-F2C1-F5AFA988EC4C}"/>
              </a:ext>
            </a:extLst>
          </p:cNvPr>
          <p:cNvSpPr txBox="1"/>
          <p:nvPr/>
        </p:nvSpPr>
        <p:spPr>
          <a:xfrm>
            <a:off x="990600" y="2290510"/>
            <a:ext cx="10437962" cy="399405"/>
          </a:xfrm>
          <a:prstGeom prst="rect">
            <a:avLst/>
          </a:prstGeom>
          <a:noFill/>
        </p:spPr>
        <p:txBody>
          <a:bodyPr wrap="square">
            <a:spAutoFit/>
          </a:bodyPr>
          <a:lstStyle/>
          <a:p>
            <a:pPr marL="18415" marR="5080" indent="-6350" algn="just">
              <a:lnSpc>
                <a:spcPct val="107000"/>
              </a:lnSpc>
              <a:spcBef>
                <a:spcPts val="95"/>
              </a:spcBef>
            </a:pPr>
            <a:r>
              <a:rPr lang="en-US" sz="2000" dirty="0">
                <a:latin typeface="Times New Roman" panose="02020603050405020304" pitchFamily="18" charset="0"/>
                <a:cs typeface="Times New Roman" panose="02020603050405020304" pitchFamily="18" charset="0"/>
              </a:rPr>
              <a:t>	</a:t>
            </a:r>
          </a:p>
        </p:txBody>
      </p:sp>
      <p:sp>
        <p:nvSpPr>
          <p:cNvPr id="2" name="TextBox 1">
            <a:extLst>
              <a:ext uri="{FF2B5EF4-FFF2-40B4-BE49-F238E27FC236}">
                <a16:creationId xmlns:a16="http://schemas.microsoft.com/office/drawing/2014/main" id="{B38B1B42-B8C0-CDA5-BA74-859C7BFC2033}"/>
              </a:ext>
            </a:extLst>
          </p:cNvPr>
          <p:cNvSpPr txBox="1"/>
          <p:nvPr/>
        </p:nvSpPr>
        <p:spPr>
          <a:xfrm>
            <a:off x="426720" y="1260859"/>
            <a:ext cx="10901680" cy="4613058"/>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The financial market is complex and ever-changing, making stock price prediction a challenging yet crucial task for investors. With advancements in machine learning (ML), it has become possible to develop models that can analyze historical data and provide forecasts with a reasonable degree of accuracy. This project aims to create an interactive Dash application that allows users to visualize stock price data and make forecasts using various machine learning algorithms. Stock investments provide one of the highest returns in the market. Even though they are volatile in nature, one can visualize share prices and other statistical factors which helps the keen investors carefully decide on which company they want to spend their earnings on. Developing this project idea using the Dash library (of Python), we can make dynamic plots of the financial data of a specific company by using the tabular data provided by </a:t>
            </a:r>
            <a:r>
              <a:rPr lang="en-US" dirty="0" err="1">
                <a:latin typeface="Times New Roman" panose="02020603050405020304" pitchFamily="18" charset="0"/>
                <a:cs typeface="Times New Roman" panose="02020603050405020304" pitchFamily="18" charset="0"/>
              </a:rPr>
              <a:t>yfinance</a:t>
            </a:r>
            <a:r>
              <a:rPr lang="en-US" dirty="0">
                <a:latin typeface="Times New Roman" panose="02020603050405020304" pitchFamily="18" charset="0"/>
                <a:cs typeface="Times New Roman" panose="02020603050405020304" pitchFamily="18" charset="0"/>
              </a:rPr>
              <a:t> python library. On top of it, we can use a machine learning algorithm to predict the upcoming stock </a:t>
            </a:r>
            <a:r>
              <a:rPr lang="en-US" dirty="0" err="1">
                <a:latin typeface="Times New Roman" panose="02020603050405020304" pitchFamily="18" charset="0"/>
                <a:cs typeface="Times New Roman" panose="02020603050405020304" pitchFamily="18" charset="0"/>
              </a:rPr>
              <a:t>prices.This</a:t>
            </a:r>
            <a:r>
              <a:rPr lang="en-US" dirty="0">
                <a:latin typeface="Times New Roman" panose="02020603050405020304" pitchFamily="18" charset="0"/>
                <a:cs typeface="Times New Roman" panose="02020603050405020304" pitchFamily="18" charset="0"/>
              </a:rPr>
              <a:t> application aims to provide users with an intuitive platform to analyze stock market data, experiment with different forecasting models, and make informed investment decisions.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416560" y="274320"/>
            <a:ext cx="3603349" cy="743598"/>
          </a:xfrm>
        </p:spPr>
        <p:txBody>
          <a:bodyPr>
            <a:normAutofit/>
          </a:bodyPr>
          <a:lstStyle/>
          <a:p>
            <a:r>
              <a:rPr lang="en-IN" sz="3600" b="1" dirty="0">
                <a:solidFill>
                  <a:srgbClr val="002060"/>
                </a:solidFill>
                <a:latin typeface="Times New Roman" panose="02020603050405020304" pitchFamily="18" charset="0"/>
                <a:cs typeface="Times New Roman" panose="02020603050405020304" pitchFamily="18" charset="0"/>
              </a:rPr>
              <a:t>1. Introduction</a:t>
            </a:r>
            <a:endParaRPr lang="en-IN" sz="3600" b="1" dirty="0">
              <a:latin typeface="Times New Roman" panose="02020603050405020304" pitchFamily="18" charset="0"/>
              <a:cs typeface="Times New Roman" panose="02020603050405020304" pitchFamily="18" charset="0"/>
            </a:endParaRPr>
          </a:p>
        </p:txBody>
      </p:sp>
      <p:sp>
        <p:nvSpPr>
          <p:cNvPr id="1048595" name="Content Placeholder 2"/>
          <p:cNvSpPr>
            <a:spLocks noGrp="1"/>
          </p:cNvSpPr>
          <p:nvPr>
            <p:ph idx="1"/>
          </p:nvPr>
        </p:nvSpPr>
        <p:spPr>
          <a:xfrm>
            <a:off x="416560" y="1142841"/>
            <a:ext cx="11040756" cy="452280"/>
          </a:xfrm>
        </p:spPr>
        <p:txBody>
          <a:bodyPr>
            <a:normAutofit/>
          </a:bodyPr>
          <a:lstStyle/>
          <a:p>
            <a:pPr marL="0" indent="0" algn="just">
              <a:buNone/>
            </a:pPr>
            <a:r>
              <a:rPr lang="en-IN" sz="2300" b="1" dirty="0">
                <a:solidFill>
                  <a:srgbClr val="002060"/>
                </a:solidFill>
              </a:rPr>
              <a:t>1.1 Problem Definition &amp; Description:</a:t>
            </a:r>
          </a:p>
          <a:p>
            <a:pPr marL="0" indent="0" algn="just">
              <a:buNone/>
            </a:pPr>
            <a:endParaRPr lang="en-IN" sz="2300" b="1" dirty="0">
              <a:solidFill>
                <a:srgbClr val="002060"/>
              </a:solidFill>
            </a:endParaRPr>
          </a:p>
          <a:p>
            <a:pPr lvl="3" algn="just"/>
            <a:endParaRPr lang="en-US" sz="2300" b="1" dirty="0">
              <a:solidFill>
                <a:srgbClr val="002060"/>
              </a:solidFill>
            </a:endParaRPr>
          </a:p>
          <a:p>
            <a:pPr marL="0" indent="0" algn="just">
              <a:buNone/>
            </a:pPr>
            <a:endParaRPr lang="en-US" sz="2000" b="1" dirty="0">
              <a:solidFill>
                <a:srgbClr val="002060"/>
              </a:solidFill>
            </a:endParaRPr>
          </a:p>
          <a:p>
            <a:pPr marL="0" indent="0" algn="just">
              <a:buNone/>
            </a:pPr>
            <a:endParaRPr lang="en-US" sz="2000" b="1" dirty="0">
              <a:solidFill>
                <a:srgbClr val="002060"/>
              </a:solidFill>
            </a:endParaRPr>
          </a:p>
          <a:p>
            <a:pPr marL="0" indent="0" algn="just">
              <a:buNone/>
            </a:pPr>
            <a:endParaRPr lang="en-US" sz="2000" b="1" dirty="0">
              <a:solidFill>
                <a:srgbClr val="002060"/>
              </a:solidFill>
            </a:endParaRPr>
          </a:p>
        </p:txBody>
      </p:sp>
      <p:sp>
        <p:nvSpPr>
          <p:cNvPr id="1048596"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2" name="TextBox 1">
            <a:extLst>
              <a:ext uri="{FF2B5EF4-FFF2-40B4-BE49-F238E27FC236}">
                <a16:creationId xmlns:a16="http://schemas.microsoft.com/office/drawing/2014/main" id="{EA49853F-629C-EC69-CCFB-9E2464554B9B}"/>
              </a:ext>
            </a:extLst>
          </p:cNvPr>
          <p:cNvSpPr txBox="1"/>
          <p:nvPr/>
        </p:nvSpPr>
        <p:spPr>
          <a:xfrm>
            <a:off x="416560" y="1595122"/>
            <a:ext cx="10769600" cy="5115311"/>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Historical Data</a:t>
            </a:r>
            <a:r>
              <a:rPr lang="en-US" sz="2000" dirty="0">
                <a:latin typeface="Times New Roman" panose="02020603050405020304" pitchFamily="18" charset="0"/>
                <a:cs typeface="Times New Roman" panose="02020603050405020304" pitchFamily="18" charset="0"/>
              </a:rPr>
              <a:t>: Display historical stock price data in various chart formats (line charts, candlestick charts).</a:t>
            </a:r>
          </a:p>
          <a:p>
            <a:pPr algn="just">
              <a:lnSpc>
                <a:spcPct val="150000"/>
              </a:lnSpc>
            </a:pPr>
            <a:r>
              <a:rPr lang="en-US" sz="2000" b="1" dirty="0">
                <a:latin typeface="Times New Roman" panose="02020603050405020304" pitchFamily="18" charset="0"/>
                <a:cs typeface="Times New Roman" panose="02020603050405020304" pitchFamily="18" charset="0"/>
              </a:rPr>
              <a:t>Technical Indicators:</a:t>
            </a:r>
            <a:r>
              <a:rPr lang="en-US" sz="2000" dirty="0">
                <a:latin typeface="Times New Roman" panose="02020603050405020304" pitchFamily="18" charset="0"/>
                <a:cs typeface="Times New Roman" panose="02020603050405020304" pitchFamily="18" charset="0"/>
              </a:rPr>
              <a:t> Include technical indicators like Moving Averages, Bollinger Bands, and Relative Strength Index (RSI).</a:t>
            </a:r>
          </a:p>
          <a:p>
            <a:pPr algn="just">
              <a:lnSpc>
                <a:spcPct val="150000"/>
              </a:lnSpc>
            </a:pPr>
            <a:r>
              <a:rPr lang="en-US" sz="2000" b="1" dirty="0">
                <a:latin typeface="Times New Roman" panose="02020603050405020304" pitchFamily="18" charset="0"/>
                <a:cs typeface="Times New Roman" panose="02020603050405020304" pitchFamily="18" charset="0"/>
              </a:rPr>
              <a:t>Comparative Analysis: </a:t>
            </a:r>
            <a:r>
              <a:rPr lang="en-US" sz="2000" dirty="0">
                <a:latin typeface="Times New Roman" panose="02020603050405020304" pitchFamily="18" charset="0"/>
                <a:cs typeface="Times New Roman" panose="02020603050405020304" pitchFamily="18" charset="0"/>
              </a:rPr>
              <a:t>Allow users to compare multiple stocks or indices on the same chart.</a:t>
            </a:r>
          </a:p>
          <a:p>
            <a:pPr algn="just">
              <a:lnSpc>
                <a:spcPct val="150000"/>
              </a:lnSpc>
            </a:pPr>
            <a:r>
              <a:rPr lang="en-US" sz="2000" b="1" dirty="0">
                <a:latin typeface="Times New Roman" panose="02020603050405020304" pitchFamily="18" charset="0"/>
                <a:cs typeface="Times New Roman" panose="02020603050405020304" pitchFamily="18" charset="0"/>
              </a:rPr>
              <a:t>Predictive Models: </a:t>
            </a:r>
            <a:r>
              <a:rPr lang="en-US" sz="2000" dirty="0">
                <a:latin typeface="Times New Roman" panose="02020603050405020304" pitchFamily="18" charset="0"/>
                <a:cs typeface="Times New Roman" panose="02020603050405020304" pitchFamily="18" charset="0"/>
              </a:rPr>
              <a:t>Implement machine learning models (e.g., ARIMA, LSTM, Prophet) to forecast future stock prices.</a:t>
            </a:r>
          </a:p>
          <a:p>
            <a:pPr algn="just">
              <a:lnSpc>
                <a:spcPct val="150000"/>
              </a:lnSpc>
            </a:pPr>
            <a:r>
              <a:rPr lang="en-US" sz="2000" b="1" dirty="0">
                <a:latin typeface="Times New Roman" panose="02020603050405020304" pitchFamily="18" charset="0"/>
                <a:cs typeface="Times New Roman" panose="02020603050405020304" pitchFamily="18" charset="0"/>
              </a:rPr>
              <a:t>Model Evaluation: </a:t>
            </a:r>
            <a:r>
              <a:rPr lang="en-US" sz="2000" dirty="0">
                <a:latin typeface="Times New Roman" panose="02020603050405020304" pitchFamily="18" charset="0"/>
                <a:cs typeface="Times New Roman" panose="02020603050405020304" pitchFamily="18" charset="0"/>
              </a:rPr>
              <a:t>Show metrics like Mean Absolute Error (MAE) and Root Mean Squared Error (RMSE) for evaluating the accuracy of forecasts.</a:t>
            </a:r>
          </a:p>
          <a:p>
            <a:pPr algn="just">
              <a:lnSpc>
                <a:spcPct val="150000"/>
              </a:lnSpc>
            </a:pPr>
            <a:r>
              <a:rPr lang="en-US" sz="2000" b="1" dirty="0">
                <a:latin typeface="Times New Roman" panose="02020603050405020304" pitchFamily="18" charset="0"/>
                <a:cs typeface="Times New Roman" panose="02020603050405020304" pitchFamily="18" charset="0"/>
              </a:rPr>
              <a:t>User Input:</a:t>
            </a:r>
            <a:r>
              <a:rPr lang="en-US" sz="2000" dirty="0">
                <a:latin typeface="Times New Roman" panose="02020603050405020304" pitchFamily="18" charset="0"/>
                <a:cs typeface="Times New Roman" panose="02020603050405020304" pitchFamily="18" charset="0"/>
              </a:rPr>
              <a:t> Allow users to select different stocks, date ranges, and forecasting models through interactive widgets.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AEC0F1-9C19-B677-F392-2831CD230FC5}"/>
              </a:ext>
            </a:extLst>
          </p:cNvPr>
          <p:cNvSpPr>
            <a:spLocks noGrp="1"/>
          </p:cNvSpPr>
          <p:nvPr>
            <p:ph idx="1"/>
          </p:nvPr>
        </p:nvSpPr>
        <p:spPr>
          <a:xfrm>
            <a:off x="487680" y="2346960"/>
            <a:ext cx="10779760" cy="690880"/>
          </a:xfrm>
        </p:spPr>
        <p:txBody>
          <a:bodyPr>
            <a:normAutofit/>
          </a:bodyPr>
          <a:lstStyle/>
          <a:p>
            <a:pPr marL="0" indent="0" algn="just">
              <a:buNone/>
            </a:pPr>
            <a:r>
              <a:rPr lang="en-IN" sz="2300" b="1" dirty="0">
                <a:solidFill>
                  <a:srgbClr val="002060"/>
                </a:solidFill>
              </a:rPr>
              <a:t>1.2 </a:t>
            </a:r>
            <a:r>
              <a:rPr lang="en-IN" sz="2400" b="1" dirty="0">
                <a:solidFill>
                  <a:srgbClr val="002060"/>
                </a:solidFill>
              </a:rPr>
              <a:t>Objectives of the Project:	</a:t>
            </a:r>
            <a:endParaRPr lang="en-US" sz="2400" b="1" dirty="0">
              <a:solidFill>
                <a:srgbClr val="002060"/>
              </a:solidFill>
            </a:endParaRPr>
          </a:p>
          <a:p>
            <a:pPr marL="0" indent="0" algn="just">
              <a:buNone/>
            </a:pPr>
            <a:endParaRPr lang="en-US" sz="2000" b="1" dirty="0">
              <a:latin typeface="Times New Roman" panose="02020603050405020304" pitchFamily="18" charset="0"/>
              <a:cs typeface="Times New Roman" panose="02020603050405020304" pitchFamily="18" charset="0"/>
            </a:endParaRPr>
          </a:p>
          <a:p>
            <a:pPr algn="just"/>
            <a:endParaRPr lang="en-US" sz="2000" b="1"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marL="0" indent="0" algn="just">
              <a:buNone/>
            </a:pPr>
            <a:endParaRPr lang="en-US" sz="1900" b="1" dirty="0">
              <a:solidFill>
                <a:srgbClr val="002060"/>
              </a:solidFill>
            </a:endParaRP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93835A8-C738-560B-009B-7065167724DF}"/>
              </a:ext>
            </a:extLst>
          </p:cNvPr>
          <p:cNvSpPr txBox="1"/>
          <p:nvPr/>
        </p:nvSpPr>
        <p:spPr>
          <a:xfrm>
            <a:off x="487680" y="3037840"/>
            <a:ext cx="10556240" cy="3730317"/>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You will be creating a single-page web application using Dash (a python framework) and some machine learning models which will show company information (logo, registered name and description) and stock plots based on the stock code given by the user. Also the ML model will enable the user to get predicted stock prices for the date inputted by the user.</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Implement and integrate machine learning models to predict future stock prices based on historical data. Utilize various forecasting models such as ARIMA, LSTM, and support vector regression modules to generate predictions. Provide users with the ability to choose different models and view forecast results along with confidence intervals.</a:t>
            </a:r>
          </a:p>
        </p:txBody>
      </p:sp>
      <p:sp>
        <p:nvSpPr>
          <p:cNvPr id="5" name="TextBox 4">
            <a:extLst>
              <a:ext uri="{FF2B5EF4-FFF2-40B4-BE49-F238E27FC236}">
                <a16:creationId xmlns:a16="http://schemas.microsoft.com/office/drawing/2014/main" id="{7656EFF3-7EA4-3002-F5AE-32FAEA037AC1}"/>
              </a:ext>
            </a:extLst>
          </p:cNvPr>
          <p:cNvSpPr txBox="1"/>
          <p:nvPr/>
        </p:nvSpPr>
        <p:spPr>
          <a:xfrm>
            <a:off x="487680" y="345440"/>
            <a:ext cx="10866120" cy="1421992"/>
          </a:xfrm>
          <a:prstGeom prst="rect">
            <a:avLst/>
          </a:prstGeom>
          <a:noFill/>
        </p:spPr>
        <p:txBody>
          <a:bodyPr wrap="square" rtlCol="0">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Dynamic Updates: Update visualizations and forecasts in real-time based on user input.</a:t>
            </a:r>
          </a:p>
          <a:p>
            <a:pPr algn="just">
              <a:lnSpc>
                <a:spcPct val="150000"/>
              </a:lnSpc>
            </a:pPr>
            <a:r>
              <a:rPr lang="en-IN" sz="2000" dirty="0">
                <a:latin typeface="Times New Roman" panose="02020603050405020304" pitchFamily="18" charset="0"/>
                <a:cs typeface="Times New Roman" panose="02020603050405020304" pitchFamily="18" charset="0"/>
              </a:rPr>
              <a:t>Data Source Integration: Fetch historical stock data from APIs (e.g., Alpha Vantage, Yahoo Finance).</a:t>
            </a:r>
          </a:p>
          <a:p>
            <a:pPr algn="just">
              <a:lnSpc>
                <a:spcPct val="150000"/>
              </a:lnSpc>
            </a:pPr>
            <a:r>
              <a:rPr lang="en-IN" sz="2000" dirty="0">
                <a:latin typeface="Times New Roman" panose="02020603050405020304" pitchFamily="18" charset="0"/>
                <a:cs typeface="Times New Roman" panose="02020603050405020304" pitchFamily="18" charset="0"/>
              </a:rPr>
              <a:t>Data Processing: Clean and preprocess data for analysis and forecasting.</a:t>
            </a:r>
          </a:p>
        </p:txBody>
      </p:sp>
    </p:spTree>
    <p:extLst>
      <p:ext uri="{BB962C8B-B14F-4D97-AF65-F5344CB8AC3E}">
        <p14:creationId xmlns:p14="http://schemas.microsoft.com/office/powerpoint/2010/main" val="20243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EFC0A-2B59-D497-FEDB-07EFE9418886}"/>
              </a:ext>
            </a:extLst>
          </p:cNvPr>
          <p:cNvSpPr>
            <a:spLocks noGrp="1"/>
          </p:cNvSpPr>
          <p:nvPr>
            <p:ph type="title"/>
          </p:nvPr>
        </p:nvSpPr>
        <p:spPr>
          <a:xfrm>
            <a:off x="497840" y="294641"/>
            <a:ext cx="10855960" cy="782320"/>
          </a:xfrm>
        </p:spPr>
        <p:txBody>
          <a:bodyPr>
            <a:normAutofit/>
          </a:bodyPr>
          <a:lstStyle/>
          <a:p>
            <a:r>
              <a:rPr lang="en-IN" sz="2400" dirty="0">
                <a:solidFill>
                  <a:srgbClr val="002060"/>
                </a:solidFill>
              </a:rPr>
              <a:t>1.3 Aim:</a:t>
            </a:r>
          </a:p>
        </p:txBody>
      </p:sp>
      <p:sp>
        <p:nvSpPr>
          <p:cNvPr id="3" name="Content Placeholder 2">
            <a:extLst>
              <a:ext uri="{FF2B5EF4-FFF2-40B4-BE49-F238E27FC236}">
                <a16:creationId xmlns:a16="http://schemas.microsoft.com/office/drawing/2014/main" id="{AE7A79C1-CC8D-9852-A01A-34CA93887FBC}"/>
              </a:ext>
            </a:extLst>
          </p:cNvPr>
          <p:cNvSpPr>
            <a:spLocks noGrp="1"/>
          </p:cNvSpPr>
          <p:nvPr>
            <p:ph idx="1"/>
          </p:nvPr>
        </p:nvSpPr>
        <p:spPr>
          <a:xfrm>
            <a:off x="497840" y="965200"/>
            <a:ext cx="10855960" cy="5211763"/>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aim of the project "Visualizing and Forecasting Stocks Using Dash and Machine Learning" is to develop a sophisticated web application that integrates interactive visualization with advanced predictive analytics to provide comprehensive insights into stock market trends. By leveraging Dash for dynamic, user-friendly data presentation and employing machine learning models for accurate forecasting, the project seeks to empower users with a robust tool for analyzing historical stock data and predicting future price movements.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4333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562154" y="284481"/>
            <a:ext cx="3388743" cy="396239"/>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2. </a:t>
            </a:r>
            <a:r>
              <a:rPr lang="en-US" sz="3600" b="1" dirty="0">
                <a:solidFill>
                  <a:srgbClr val="002060"/>
                </a:solidFill>
                <a:latin typeface="Times New Roman" panose="02020603050405020304" pitchFamily="18" charset="0"/>
                <a:cs typeface="Times New Roman" panose="02020603050405020304" pitchFamily="18" charset="0"/>
              </a:rPr>
              <a:t>Methodology </a:t>
            </a:r>
            <a:endParaRPr lang="en-IN" sz="36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CCAD6F0-6CF1-3194-A19F-B6B0A9A2F5CD}"/>
              </a:ext>
            </a:extLst>
          </p:cNvPr>
          <p:cNvSpPr>
            <a:spLocks noChangeArrowheads="1"/>
          </p:cNvSpPr>
          <p:nvPr/>
        </p:nvSpPr>
        <p:spPr bwMode="auto">
          <a:xfrm rot="10800000" flipV="1">
            <a:off x="562154" y="1492239"/>
            <a:ext cx="958768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lang="en-US" altLang="en-US"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B6D665A-846D-49E1-04FB-A45A7FD53F3B}"/>
              </a:ext>
            </a:extLst>
          </p:cNvPr>
          <p:cNvSpPr txBox="1"/>
          <p:nvPr/>
        </p:nvSpPr>
        <p:spPr>
          <a:xfrm>
            <a:off x="-115647" y="681915"/>
            <a:ext cx="11986003" cy="497468"/>
          </a:xfrm>
          <a:prstGeom prst="rect">
            <a:avLst/>
          </a:prstGeom>
          <a:noFill/>
        </p:spPr>
        <p:txBody>
          <a:bodyPr wrap="square" rtlCol="0">
            <a:spAutoFit/>
          </a:bodyPr>
          <a:lstStyle/>
          <a:p>
            <a:pPr algn="just">
              <a:lnSpc>
                <a:spcPct val="150000"/>
              </a:lnSpc>
            </a:pPr>
            <a:endParaRPr lang="en-IN" sz="2000" dirty="0">
              <a:latin typeface="Times New Roman" panose="02020603050405020304" pitchFamily="18" charset="0"/>
              <a:cs typeface="Times New Roman" panose="02020603050405020304" pitchFamily="18" charset="0"/>
            </a:endParaRPr>
          </a:p>
        </p:txBody>
      </p:sp>
      <p:pic>
        <p:nvPicPr>
          <p:cNvPr id="2050" name="Picture 2" descr="PlantUML Diagram">
            <a:extLst>
              <a:ext uri="{FF2B5EF4-FFF2-40B4-BE49-F238E27FC236}">
                <a16:creationId xmlns:a16="http://schemas.microsoft.com/office/drawing/2014/main" id="{40E8A092-D7D6-D466-DF4B-FD52BE9AEA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475" y="1253292"/>
            <a:ext cx="9587686" cy="4836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4335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71D369-F467-0CD0-4C75-BC960A762A87}"/>
              </a:ext>
            </a:extLst>
          </p:cNvPr>
          <p:cNvSpPr>
            <a:spLocks noGrp="1"/>
          </p:cNvSpPr>
          <p:nvPr>
            <p:ph idx="1"/>
          </p:nvPr>
        </p:nvSpPr>
        <p:spPr>
          <a:xfrm>
            <a:off x="640080" y="538480"/>
            <a:ext cx="10713720" cy="5638483"/>
          </a:xfrm>
        </p:spPr>
        <p:txBody>
          <a:bodyPr>
            <a:normAutofit fontScale="92500" lnSpcReduction="20000"/>
          </a:bodyPr>
          <a:lstStyle/>
          <a:p>
            <a:pPr algn="just">
              <a:lnSpc>
                <a:spcPct val="160000"/>
              </a:lnSpc>
            </a:pPr>
            <a:r>
              <a:rPr lang="en-US" sz="2200" dirty="0">
                <a:latin typeface="Times New Roman" panose="02020603050405020304" pitchFamily="18" charset="0"/>
                <a:cs typeface="Times New Roman" panose="02020603050405020304" pitchFamily="18" charset="0"/>
              </a:rPr>
              <a:t>Collect Historical Stock Data: Gather stock price data from a reliable source.</a:t>
            </a:r>
          </a:p>
          <a:p>
            <a:pPr algn="just">
              <a:lnSpc>
                <a:spcPct val="160000"/>
              </a:lnSpc>
            </a:pPr>
            <a:r>
              <a:rPr lang="en-US" sz="2200" dirty="0">
                <a:latin typeface="Times New Roman" panose="02020603050405020304" pitchFamily="18" charset="0"/>
                <a:cs typeface="Times New Roman" panose="02020603050405020304" pitchFamily="18" charset="0"/>
              </a:rPr>
              <a:t>Preprocess Data: Normalize the data and split it into training and testing datasets.</a:t>
            </a:r>
          </a:p>
          <a:p>
            <a:pPr algn="just">
              <a:lnSpc>
                <a:spcPct val="160000"/>
              </a:lnSpc>
            </a:pPr>
            <a:r>
              <a:rPr lang="en-US" sz="2200" dirty="0">
                <a:latin typeface="Times New Roman" panose="02020603050405020304" pitchFamily="18" charset="0"/>
                <a:cs typeface="Times New Roman" panose="02020603050405020304" pitchFamily="18" charset="0"/>
              </a:rPr>
              <a:t>Train SVR Model: Fit the Support Vector Regression model to the training data.</a:t>
            </a:r>
          </a:p>
          <a:p>
            <a:pPr algn="just">
              <a:lnSpc>
                <a:spcPct val="160000"/>
              </a:lnSpc>
            </a:pPr>
            <a:r>
              <a:rPr lang="en-US" sz="2200" dirty="0">
                <a:latin typeface="Times New Roman" panose="02020603050405020304" pitchFamily="18" charset="0"/>
                <a:cs typeface="Times New Roman" panose="02020603050405020304" pitchFamily="18" charset="0"/>
              </a:rPr>
              <a:t>Create Dash Application: Set up a Dash app for visualization.</a:t>
            </a:r>
          </a:p>
          <a:p>
            <a:pPr algn="just">
              <a:lnSpc>
                <a:spcPct val="160000"/>
              </a:lnSpc>
            </a:pPr>
            <a:r>
              <a:rPr lang="en-US" sz="2200" dirty="0">
                <a:latin typeface="Times New Roman" panose="02020603050405020304" pitchFamily="18" charset="0"/>
                <a:cs typeface="Times New Roman" panose="02020603050405020304" pitchFamily="18" charset="0"/>
              </a:rPr>
              <a:t>Build Interactive Layout: Design the layout of the app, including charts and controls.</a:t>
            </a:r>
          </a:p>
          <a:p>
            <a:pPr algn="just">
              <a:lnSpc>
                <a:spcPct val="160000"/>
              </a:lnSpc>
            </a:pPr>
            <a:r>
              <a:rPr lang="en-US" sz="2200" dirty="0">
                <a:latin typeface="Times New Roman" panose="02020603050405020304" pitchFamily="18" charset="0"/>
                <a:cs typeface="Times New Roman" panose="02020603050405020304" pitchFamily="18" charset="0"/>
              </a:rPr>
              <a:t>Integrate SVR Model Predictions: Connect the SVR model to the Dash app for predictions.</a:t>
            </a:r>
          </a:p>
          <a:p>
            <a:pPr algn="just">
              <a:lnSpc>
                <a:spcPct val="160000"/>
              </a:lnSpc>
            </a:pPr>
            <a:r>
              <a:rPr lang="en-US" sz="2200" dirty="0">
                <a:latin typeface="Times New Roman" panose="02020603050405020304" pitchFamily="18" charset="0"/>
                <a:cs typeface="Times New Roman" panose="02020603050405020304" pitchFamily="18" charset="0"/>
              </a:rPr>
              <a:t>Generate Forecast Plot: Create plots that show the forecasted stock prices.</a:t>
            </a:r>
          </a:p>
          <a:p>
            <a:pPr algn="just">
              <a:lnSpc>
                <a:spcPct val="160000"/>
              </a:lnSpc>
            </a:pPr>
            <a:r>
              <a:rPr lang="en-US" sz="2200" dirty="0">
                <a:latin typeface="Times New Roman" panose="02020603050405020304" pitchFamily="18" charset="0"/>
                <a:cs typeface="Times New Roman" panose="02020603050405020304" pitchFamily="18" charset="0"/>
              </a:rPr>
              <a:t>Display Interactive Charts: Show interactive charts in the Dash app.</a:t>
            </a:r>
          </a:p>
          <a:p>
            <a:pPr algn="just">
              <a:lnSpc>
                <a:spcPct val="160000"/>
              </a:lnSpc>
            </a:pPr>
            <a:r>
              <a:rPr lang="en-US" sz="2200" dirty="0">
                <a:latin typeface="Times New Roman" panose="02020603050405020304" pitchFamily="18" charset="0"/>
                <a:cs typeface="Times New Roman" panose="02020603050405020304" pitchFamily="18" charset="0"/>
              </a:rPr>
              <a:t>Deploy Dash Application: Deploy the app for users to access.</a:t>
            </a:r>
          </a:p>
          <a:p>
            <a:pPr algn="just">
              <a:lnSpc>
                <a:spcPct val="160000"/>
              </a:lnSpc>
            </a:pPr>
            <a:r>
              <a:rPr lang="en-US" sz="2200" dirty="0">
                <a:latin typeface="Times New Roman" panose="02020603050405020304" pitchFamily="18" charset="0"/>
                <a:cs typeface="Times New Roman" panose="02020603050405020304" pitchFamily="18" charset="0"/>
              </a:rPr>
              <a:t>Monitor and Update: Continuously monitor the app and update as needed.</a:t>
            </a:r>
          </a:p>
          <a:p>
            <a:pPr marL="0" indent="0">
              <a:buNone/>
            </a:pPr>
            <a:endParaRPr lang="en-IN" dirty="0"/>
          </a:p>
        </p:txBody>
      </p:sp>
    </p:spTree>
    <p:extLst>
      <p:ext uri="{BB962C8B-B14F-4D97-AF65-F5344CB8AC3E}">
        <p14:creationId xmlns:p14="http://schemas.microsoft.com/office/powerpoint/2010/main" val="405282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458638" y="304801"/>
            <a:ext cx="3371490" cy="751648"/>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3. </a:t>
            </a:r>
            <a:r>
              <a:rPr lang="en-US" sz="3600" b="1" dirty="0">
                <a:solidFill>
                  <a:srgbClr val="002060"/>
                </a:solidFill>
                <a:latin typeface="Times New Roman" panose="02020603050405020304" pitchFamily="18" charset="0"/>
                <a:cs typeface="Times New Roman" panose="02020603050405020304" pitchFamily="18" charset="0"/>
              </a:rPr>
              <a:t>Technologies</a:t>
            </a:r>
            <a:endParaRPr lang="en-IN" sz="3600" dirty="0">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3911C7E8-AE18-2841-516A-BC76EFE9CC46}"/>
              </a:ext>
            </a:extLst>
          </p:cNvPr>
          <p:cNvSpPr>
            <a:spLocks noChangeArrowheads="1"/>
          </p:cNvSpPr>
          <p:nvPr/>
        </p:nvSpPr>
        <p:spPr bwMode="auto">
          <a:xfrm>
            <a:off x="3129280" y="1764226"/>
            <a:ext cx="58724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16F9BDEE-859A-B2DD-22AA-07E38304616D}"/>
              </a:ext>
            </a:extLst>
          </p:cNvPr>
          <p:cNvSpPr>
            <a:spLocks noChangeArrowheads="1"/>
          </p:cNvSpPr>
          <p:nvPr/>
        </p:nvSpPr>
        <p:spPr bwMode="auto">
          <a:xfrm>
            <a:off x="458638" y="1591025"/>
            <a:ext cx="1183831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945CFDB-9342-2624-2B5F-90F355AE7057}"/>
              </a:ext>
            </a:extLst>
          </p:cNvPr>
          <p:cNvSpPr txBox="1"/>
          <p:nvPr/>
        </p:nvSpPr>
        <p:spPr>
          <a:xfrm>
            <a:off x="458638" y="1155562"/>
            <a:ext cx="11001842" cy="5909310"/>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1. Data Collection and APIs</a:t>
            </a:r>
          </a:p>
          <a:p>
            <a:pPr algn="just">
              <a:lnSpc>
                <a:spcPct val="150000"/>
              </a:lnSpc>
            </a:pPr>
            <a:r>
              <a:rPr lang="en-US" sz="2000" dirty="0">
                <a:latin typeface="Times New Roman" panose="02020603050405020304" pitchFamily="18" charset="0"/>
                <a:cs typeface="Times New Roman" panose="02020603050405020304" pitchFamily="18" charset="0"/>
              </a:rPr>
              <a:t>Yahoo Finance: Provides historical stock data through its API.</a:t>
            </a:r>
          </a:p>
          <a:p>
            <a:pPr algn="just">
              <a:lnSpc>
                <a:spcPct val="150000"/>
              </a:lnSpc>
            </a:pPr>
            <a:r>
              <a:rPr lang="en-US" sz="2000" dirty="0">
                <a:latin typeface="Times New Roman" panose="02020603050405020304" pitchFamily="18" charset="0"/>
                <a:cs typeface="Times New Roman" panose="02020603050405020304" pitchFamily="18" charset="0"/>
              </a:rPr>
              <a:t>Alpha Vantage: Offers real-time and historical data with various technical indicators.</a:t>
            </a:r>
          </a:p>
          <a:p>
            <a:pPr algn="just">
              <a:lnSpc>
                <a:spcPct val="150000"/>
              </a:lnSpc>
            </a:pPr>
            <a:r>
              <a:rPr lang="en-US" sz="2000" dirty="0" err="1">
                <a:latin typeface="Times New Roman" panose="02020603050405020304" pitchFamily="18" charset="0"/>
                <a:cs typeface="Times New Roman" panose="02020603050405020304" pitchFamily="18" charset="0"/>
              </a:rPr>
              <a:t>Quandl</a:t>
            </a:r>
            <a:r>
              <a:rPr lang="en-US" sz="2000" dirty="0">
                <a:latin typeface="Times New Roman" panose="02020603050405020304" pitchFamily="18" charset="0"/>
                <a:cs typeface="Times New Roman" panose="02020603050405020304" pitchFamily="18" charset="0"/>
              </a:rPr>
              <a:t>: A platform for financial and economic data, including stock prices.</a:t>
            </a:r>
          </a:p>
          <a:p>
            <a:pPr algn="just">
              <a:lnSpc>
                <a:spcPct val="150000"/>
              </a:lnSpc>
            </a:pPr>
            <a:r>
              <a:rPr lang="en-US" sz="2000" b="1" dirty="0">
                <a:latin typeface="Times New Roman" panose="02020603050405020304" pitchFamily="18" charset="0"/>
                <a:cs typeface="Times New Roman" panose="02020603050405020304" pitchFamily="18" charset="0"/>
              </a:rPr>
              <a:t>2. Data Processing and Preparation</a:t>
            </a:r>
          </a:p>
          <a:p>
            <a:pPr algn="just">
              <a:lnSpc>
                <a:spcPct val="150000"/>
              </a:lnSpc>
            </a:pPr>
            <a:r>
              <a:rPr lang="en-US" sz="2000" dirty="0">
                <a:latin typeface="Times New Roman" panose="02020603050405020304" pitchFamily="18" charset="0"/>
                <a:cs typeface="Times New Roman" panose="02020603050405020304" pitchFamily="18" charset="0"/>
              </a:rPr>
              <a:t>Pandas: Essential for data manipulation and preprocessing, including handling missing values and feature engineering.</a:t>
            </a:r>
          </a:p>
          <a:p>
            <a:pPr algn="just">
              <a:lnSpc>
                <a:spcPct val="150000"/>
              </a:lnSpc>
            </a:pPr>
            <a:r>
              <a:rPr lang="en-US" sz="2000" dirty="0">
                <a:latin typeface="Times New Roman" panose="02020603050405020304" pitchFamily="18" charset="0"/>
                <a:cs typeface="Times New Roman" panose="02020603050405020304" pitchFamily="18" charset="0"/>
              </a:rPr>
              <a:t>NumPy: Useful for numerical operations and array handling.</a:t>
            </a:r>
          </a:p>
          <a:p>
            <a:pPr algn="just">
              <a:lnSpc>
                <a:spcPct val="150000"/>
              </a:lnSpc>
            </a:pPr>
            <a:r>
              <a:rPr lang="en-US" sz="2000" dirty="0">
                <a:latin typeface="Times New Roman" panose="02020603050405020304" pitchFamily="18" charset="0"/>
                <a:cs typeface="Times New Roman" panose="02020603050405020304" pitchFamily="18" charset="0"/>
              </a:rPr>
              <a:t>Scikit-learn: Provides tools for preprocessing data and creating training/testing datasets.</a:t>
            </a:r>
          </a:p>
          <a:p>
            <a:pPr algn="just">
              <a:lnSpc>
                <a:spcPct val="150000"/>
              </a:lnSpc>
            </a:pPr>
            <a:r>
              <a:rPr lang="en-US" sz="2000" b="1" dirty="0">
                <a:latin typeface="Times New Roman" panose="02020603050405020304" pitchFamily="18" charset="0"/>
                <a:cs typeface="Times New Roman" panose="02020603050405020304" pitchFamily="18" charset="0"/>
              </a:rPr>
              <a:t>3. Machine Learning Models for Forecasting</a:t>
            </a:r>
          </a:p>
          <a:p>
            <a:pPr algn="just">
              <a:lnSpc>
                <a:spcPct val="150000"/>
              </a:lnSpc>
            </a:pPr>
            <a:r>
              <a:rPr lang="en-US" sz="2000" dirty="0">
                <a:latin typeface="Times New Roman" panose="02020603050405020304" pitchFamily="18" charset="0"/>
                <a:cs typeface="Times New Roman" panose="02020603050405020304" pitchFamily="18" charset="0"/>
              </a:rPr>
              <a:t>ARIMA (</a:t>
            </a:r>
            <a:r>
              <a:rPr lang="en-US" sz="2000" dirty="0" err="1">
                <a:latin typeface="Times New Roman" panose="02020603050405020304" pitchFamily="18" charset="0"/>
                <a:cs typeface="Times New Roman" panose="02020603050405020304" pitchFamily="18" charset="0"/>
              </a:rPr>
              <a:t>AutoRegressive</a:t>
            </a:r>
            <a:r>
              <a:rPr lang="en-US" sz="2000" dirty="0">
                <a:latin typeface="Times New Roman" panose="02020603050405020304" pitchFamily="18" charset="0"/>
                <a:cs typeface="Times New Roman" panose="02020603050405020304" pitchFamily="18" charset="0"/>
              </a:rPr>
              <a:t> Integrated Moving Average): A classical time series forecasting model available in the </a:t>
            </a:r>
            <a:r>
              <a:rPr lang="en-US" sz="2000" dirty="0" err="1">
                <a:latin typeface="Times New Roman" panose="02020603050405020304" pitchFamily="18" charset="0"/>
                <a:cs typeface="Times New Roman" panose="02020603050405020304" pitchFamily="18" charset="0"/>
              </a:rPr>
              <a:t>statsmodels</a:t>
            </a:r>
            <a:r>
              <a:rPr lang="en-US" sz="2000" dirty="0">
                <a:latin typeface="Times New Roman" panose="02020603050405020304" pitchFamily="18" charset="0"/>
                <a:cs typeface="Times New Roman" panose="02020603050405020304" pitchFamily="18" charset="0"/>
              </a:rPr>
              <a:t> library.</a:t>
            </a:r>
          </a:p>
          <a:p>
            <a:endParaRPr lang="en-IN" dirty="0"/>
          </a:p>
        </p:txBody>
      </p:sp>
    </p:spTree>
    <p:extLst>
      <p:ext uri="{BB962C8B-B14F-4D97-AF65-F5344CB8AC3E}">
        <p14:creationId xmlns:p14="http://schemas.microsoft.com/office/powerpoint/2010/main" val="505096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558800" y="223521"/>
            <a:ext cx="3383472" cy="832928"/>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4. Requirements</a:t>
            </a:r>
            <a:endParaRPr lang="en-IN" sz="3600" dirty="0">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3911C7E8-AE18-2841-516A-BC76EFE9CC46}"/>
              </a:ext>
            </a:extLst>
          </p:cNvPr>
          <p:cNvSpPr>
            <a:spLocks noChangeArrowheads="1"/>
          </p:cNvSpPr>
          <p:nvPr/>
        </p:nvSpPr>
        <p:spPr bwMode="auto">
          <a:xfrm>
            <a:off x="558800" y="1428946"/>
            <a:ext cx="76911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04A4F544-C205-D283-B814-EABAA8947129}"/>
              </a:ext>
            </a:extLst>
          </p:cNvPr>
          <p:cNvSpPr>
            <a:spLocks noChangeArrowheads="1"/>
          </p:cNvSpPr>
          <p:nvPr/>
        </p:nvSpPr>
        <p:spPr bwMode="auto">
          <a:xfrm>
            <a:off x="558800" y="1278462"/>
            <a:ext cx="10739120"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N" sz="2300" b="1" dirty="0">
                <a:solidFill>
                  <a:srgbClr val="002060"/>
                </a:solidFill>
                <a:latin typeface="Times New Roman" panose="02020603050405020304" pitchFamily="18" charset="0"/>
                <a:cs typeface="Times New Roman" panose="02020603050405020304" pitchFamily="18" charset="0"/>
              </a:rPr>
              <a:t>4.1 Software</a:t>
            </a:r>
            <a:r>
              <a:rPr lang="en-US" sz="2300" b="1" dirty="0">
                <a:solidFill>
                  <a:srgbClr val="002060"/>
                </a:solidFill>
                <a:latin typeface="Times New Roman" panose="02020603050405020304" pitchFamily="18" charset="0"/>
                <a:cs typeface="Times New Roman" panose="02020603050405020304" pitchFamily="18" charset="0"/>
              </a:rPr>
              <a:t> Requirements</a:t>
            </a:r>
          </a:p>
          <a:p>
            <a:pPr eaLnBrk="0" fontAlgn="base" hangingPunct="0">
              <a:spcBef>
                <a:spcPct val="0"/>
              </a:spcBef>
              <a:spcAft>
                <a:spcPct val="0"/>
              </a:spcAft>
            </a:pPr>
            <a:r>
              <a:rPr lang="en-US" sz="2300" b="1" dirty="0">
                <a:solidFill>
                  <a:srgbClr val="002060"/>
                </a:solidFill>
                <a:latin typeface="Times New Roman" panose="02020603050405020304" pitchFamily="18" charset="0"/>
                <a:cs typeface="Times New Roman" panose="02020603050405020304" pitchFamily="18" charset="0"/>
              </a:rPr>
              <a:t> </a:t>
            </a:r>
            <a:endParaRPr lang="en-IN" sz="2300" b="1" dirty="0">
              <a:solidFill>
                <a:srgbClr val="00206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EE5F0713-5D35-244E-99C2-75A9BCC85EE7}"/>
              </a:ext>
            </a:extLst>
          </p:cNvPr>
          <p:cNvSpPr txBox="1"/>
          <p:nvPr/>
        </p:nvSpPr>
        <p:spPr>
          <a:xfrm>
            <a:off x="558800" y="1971040"/>
            <a:ext cx="10576560" cy="4653646"/>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Python: A modern version of Python (3.x) is essential for running most data science and web development libraries.</a:t>
            </a:r>
          </a:p>
          <a:p>
            <a:pPr algn="just">
              <a:lnSpc>
                <a:spcPct val="150000"/>
              </a:lnSpc>
            </a:pPr>
            <a:r>
              <a:rPr lang="en-US" sz="2000" b="1" dirty="0">
                <a:latin typeface="Times New Roman" panose="02020603050405020304" pitchFamily="18" charset="0"/>
                <a:cs typeface="Times New Roman" panose="02020603050405020304" pitchFamily="18" charset="0"/>
              </a:rPr>
              <a:t>Data Collection and Processing:</a:t>
            </a:r>
          </a:p>
          <a:p>
            <a:pPr algn="just">
              <a:lnSpc>
                <a:spcPct val="150000"/>
              </a:lnSpc>
            </a:pPr>
            <a:r>
              <a:rPr lang="en-US" sz="2000" dirty="0">
                <a:latin typeface="Times New Roman" panose="02020603050405020304" pitchFamily="18" charset="0"/>
                <a:cs typeface="Times New Roman" panose="02020603050405020304" pitchFamily="18" charset="0"/>
              </a:rPr>
              <a:t>Pandas: For data manipulation and analysis.</a:t>
            </a:r>
          </a:p>
          <a:p>
            <a:pPr algn="just">
              <a:lnSpc>
                <a:spcPct val="150000"/>
              </a:lnSpc>
            </a:pPr>
            <a:r>
              <a:rPr lang="en-US" sz="2000" dirty="0">
                <a:latin typeface="Times New Roman" panose="02020603050405020304" pitchFamily="18" charset="0"/>
                <a:cs typeface="Times New Roman" panose="02020603050405020304" pitchFamily="18" charset="0"/>
              </a:rPr>
              <a:t>NumPy: For numerical operations and array handling.</a:t>
            </a:r>
          </a:p>
          <a:p>
            <a:pPr algn="just">
              <a:lnSpc>
                <a:spcPct val="150000"/>
              </a:lnSpc>
            </a:pPr>
            <a:r>
              <a:rPr lang="en-US" sz="2000" dirty="0">
                <a:latin typeface="Times New Roman" panose="02020603050405020304" pitchFamily="18" charset="0"/>
                <a:cs typeface="Times New Roman" panose="02020603050405020304" pitchFamily="18" charset="0"/>
              </a:rPr>
              <a:t>Requests or </a:t>
            </a:r>
            <a:r>
              <a:rPr lang="en-US" sz="2000" dirty="0" err="1">
                <a:latin typeface="Times New Roman" panose="02020603050405020304" pitchFamily="18" charset="0"/>
                <a:cs typeface="Times New Roman" panose="02020603050405020304" pitchFamily="18" charset="0"/>
              </a:rPr>
              <a:t>yfinance</a:t>
            </a:r>
            <a:r>
              <a:rPr lang="en-US" sz="2000" dirty="0">
                <a:latin typeface="Times New Roman" panose="02020603050405020304" pitchFamily="18" charset="0"/>
                <a:cs typeface="Times New Roman" panose="02020603050405020304" pitchFamily="18" charset="0"/>
              </a:rPr>
              <a:t>: For fetching stock data from APIs.</a:t>
            </a:r>
          </a:p>
          <a:p>
            <a:pPr algn="just">
              <a:lnSpc>
                <a:spcPct val="150000"/>
              </a:lnSpc>
            </a:pPr>
            <a:r>
              <a:rPr lang="en-US" sz="2000" b="1" dirty="0">
                <a:latin typeface="Times New Roman" panose="02020603050405020304" pitchFamily="18" charset="0"/>
                <a:cs typeface="Times New Roman" panose="02020603050405020304" pitchFamily="18" charset="0"/>
              </a:rPr>
              <a:t>Machine Learning:</a:t>
            </a:r>
          </a:p>
          <a:p>
            <a:pPr algn="just">
              <a:lnSpc>
                <a:spcPct val="150000"/>
              </a:lnSpc>
            </a:pPr>
            <a:r>
              <a:rPr lang="en-US" sz="2000" dirty="0">
                <a:latin typeface="Times New Roman" panose="02020603050405020304" pitchFamily="18" charset="0"/>
                <a:cs typeface="Times New Roman" panose="02020603050405020304" pitchFamily="18" charset="0"/>
              </a:rPr>
              <a:t>Scikit-learn: For classical machine learning algorithms and preprocessing.</a:t>
            </a:r>
          </a:p>
          <a:p>
            <a:pPr algn="just">
              <a:lnSpc>
                <a:spcPct val="150000"/>
              </a:lnSpc>
            </a:pPr>
            <a:r>
              <a:rPr lang="en-US" sz="2000" dirty="0">
                <a:latin typeface="Times New Roman" panose="02020603050405020304" pitchFamily="18" charset="0"/>
                <a:cs typeface="Times New Roman" panose="02020603050405020304" pitchFamily="18" charset="0"/>
              </a:rPr>
              <a:t>TensorFlow or </a:t>
            </a:r>
            <a:r>
              <a:rPr lang="en-US" sz="2000" dirty="0" err="1">
                <a:latin typeface="Times New Roman" panose="02020603050405020304" pitchFamily="18" charset="0"/>
                <a:cs typeface="Times New Roman" panose="02020603050405020304" pitchFamily="18" charset="0"/>
              </a:rPr>
              <a:t>PyTorch</a:t>
            </a:r>
            <a:r>
              <a:rPr lang="en-US" sz="2000" dirty="0">
                <a:latin typeface="Times New Roman" panose="02020603050405020304" pitchFamily="18" charset="0"/>
                <a:cs typeface="Times New Roman" panose="02020603050405020304" pitchFamily="18" charset="0"/>
              </a:rPr>
              <a:t>: For implementing and training deep learning models like LSTM.</a:t>
            </a:r>
          </a:p>
          <a:p>
            <a:pPr algn="just">
              <a:lnSpc>
                <a:spcPct val="150000"/>
              </a:lnSpc>
            </a:pPr>
            <a:r>
              <a:rPr lang="en-US" sz="2000" dirty="0" err="1">
                <a:latin typeface="Times New Roman" panose="02020603050405020304" pitchFamily="18" charset="0"/>
                <a:cs typeface="Times New Roman" panose="02020603050405020304" pitchFamily="18" charset="0"/>
              </a:rPr>
              <a:t>Statsmodels</a:t>
            </a:r>
            <a:r>
              <a:rPr lang="en-US" sz="2000" dirty="0">
                <a:latin typeface="Times New Roman" panose="02020603050405020304" pitchFamily="18" charset="0"/>
                <a:cs typeface="Times New Roman" panose="02020603050405020304" pitchFamily="18" charset="0"/>
              </a:rPr>
              <a:t>: For statistical models such as ARIMA.</a:t>
            </a:r>
          </a:p>
        </p:txBody>
      </p:sp>
    </p:spTree>
    <p:extLst>
      <p:ext uri="{BB962C8B-B14F-4D97-AF65-F5344CB8AC3E}">
        <p14:creationId xmlns:p14="http://schemas.microsoft.com/office/powerpoint/2010/main" val="1758589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FF040-5ABE-B563-A1D5-95F4B393727B}"/>
              </a:ext>
            </a:extLst>
          </p:cNvPr>
          <p:cNvSpPr>
            <a:spLocks noGrp="1"/>
          </p:cNvSpPr>
          <p:nvPr>
            <p:ph type="title"/>
          </p:nvPr>
        </p:nvSpPr>
        <p:spPr>
          <a:xfrm>
            <a:off x="386080" y="2682240"/>
            <a:ext cx="10967720" cy="883919"/>
          </a:xfrm>
        </p:spPr>
        <p:txBody>
          <a:bodyPr>
            <a:normAutofit/>
          </a:bodyPr>
          <a:lstStyle/>
          <a:p>
            <a:r>
              <a:rPr lang="en-IN" sz="2800" dirty="0">
                <a:solidFill>
                  <a:srgbClr val="002060"/>
                </a:solidFill>
              </a:rPr>
              <a:t>4.2 Hardware Requirements</a:t>
            </a:r>
          </a:p>
        </p:txBody>
      </p:sp>
      <p:sp>
        <p:nvSpPr>
          <p:cNvPr id="3" name="Content Placeholder 2">
            <a:extLst>
              <a:ext uri="{FF2B5EF4-FFF2-40B4-BE49-F238E27FC236}">
                <a16:creationId xmlns:a16="http://schemas.microsoft.com/office/drawing/2014/main" id="{B0A3DA84-9311-B193-4FEB-F6C92A8F2B72}"/>
              </a:ext>
            </a:extLst>
          </p:cNvPr>
          <p:cNvSpPr>
            <a:spLocks noGrp="1"/>
          </p:cNvSpPr>
          <p:nvPr>
            <p:ph idx="1"/>
          </p:nvPr>
        </p:nvSpPr>
        <p:spPr>
          <a:xfrm>
            <a:off x="386080" y="3718560"/>
            <a:ext cx="10967720" cy="2458403"/>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Development Machine: A standard modern computer with sufficient processing power and memory (e.g., 8GB RAM) for development and testing.</a:t>
            </a:r>
          </a:p>
          <a:p>
            <a:pPr algn="just">
              <a:lnSpc>
                <a:spcPct val="150000"/>
              </a:lnSpc>
            </a:pPr>
            <a:r>
              <a:rPr lang="en-US" sz="2000" dirty="0">
                <a:latin typeface="Times New Roman" panose="02020603050405020304" pitchFamily="18" charset="0"/>
                <a:cs typeface="Times New Roman" panose="02020603050405020304" pitchFamily="18" charset="0"/>
              </a:rPr>
              <a:t>Server: For deployment, a server with adequate resources based on the expected traffic and computational needs (e.g., a cloud instance from AWS, Azure, or Google Cloud).</a:t>
            </a: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105A888-DD5C-DF1C-1A2F-731F75FC56D5}"/>
              </a:ext>
            </a:extLst>
          </p:cNvPr>
          <p:cNvSpPr txBox="1"/>
          <p:nvPr/>
        </p:nvSpPr>
        <p:spPr>
          <a:xfrm>
            <a:off x="518160" y="650240"/>
            <a:ext cx="10678160" cy="1883657"/>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Visualization and Dashboards:</a:t>
            </a:r>
          </a:p>
          <a:p>
            <a:pPr algn="just">
              <a:lnSpc>
                <a:spcPct val="150000"/>
              </a:lnSpc>
            </a:pPr>
            <a:r>
              <a:rPr lang="en-US" sz="2000" dirty="0">
                <a:latin typeface="Times New Roman" panose="02020603050405020304" pitchFamily="18" charset="0"/>
                <a:cs typeface="Times New Roman" panose="02020603050405020304" pitchFamily="18" charset="0"/>
              </a:rPr>
              <a:t>Dash: For creating interactive web applications.</a:t>
            </a:r>
          </a:p>
          <a:p>
            <a:pPr algn="just">
              <a:lnSpc>
                <a:spcPct val="150000"/>
              </a:lnSpc>
            </a:pPr>
            <a:r>
              <a:rPr lang="en-US" sz="2000" dirty="0" err="1">
                <a:latin typeface="Times New Roman" panose="02020603050405020304" pitchFamily="18" charset="0"/>
                <a:cs typeface="Times New Roman" panose="02020603050405020304" pitchFamily="18" charset="0"/>
              </a:rPr>
              <a:t>Plotly</a:t>
            </a:r>
            <a:r>
              <a:rPr lang="en-US" sz="2000" dirty="0">
                <a:latin typeface="Times New Roman" panose="02020603050405020304" pitchFamily="18" charset="0"/>
                <a:cs typeface="Times New Roman" panose="02020603050405020304" pitchFamily="18" charset="0"/>
              </a:rPr>
              <a:t>: For generating interactive and dynamic visualizations.</a:t>
            </a:r>
          </a:p>
          <a:p>
            <a:pPr algn="just">
              <a:lnSpc>
                <a:spcPct val="150000"/>
              </a:lnSpc>
            </a:pPr>
            <a:r>
              <a:rPr lang="en-US" sz="2000" dirty="0">
                <a:latin typeface="Times New Roman" panose="02020603050405020304" pitchFamily="18" charset="0"/>
                <a:cs typeface="Times New Roman" panose="02020603050405020304" pitchFamily="18" charset="0"/>
              </a:rPr>
              <a:t>Matplotlib: Optional, for static plots if needed.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0464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416560" y="152401"/>
            <a:ext cx="4647146" cy="640080"/>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5. System Analysis</a:t>
            </a:r>
            <a:endParaRPr lang="en-IN" sz="3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160B5C7-447A-E48A-C35E-C792F5043B55}"/>
              </a:ext>
            </a:extLst>
          </p:cNvPr>
          <p:cNvSpPr txBox="1"/>
          <p:nvPr/>
        </p:nvSpPr>
        <p:spPr>
          <a:xfrm>
            <a:off x="487680" y="792481"/>
            <a:ext cx="4647146" cy="738664"/>
          </a:xfrm>
          <a:prstGeom prst="rect">
            <a:avLst/>
          </a:prstGeom>
          <a:noFill/>
        </p:spPr>
        <p:txBody>
          <a:bodyPr wrap="square" rtlCol="0">
            <a:spAutoFit/>
          </a:bodyPr>
          <a:lstStyle/>
          <a:p>
            <a:pPr eaLnBrk="0" fontAlgn="base" hangingPunct="0">
              <a:spcBef>
                <a:spcPct val="0"/>
              </a:spcBef>
              <a:spcAft>
                <a:spcPct val="0"/>
              </a:spcAft>
            </a:pPr>
            <a:r>
              <a:rPr lang="en-IN" sz="2400" b="1" dirty="0">
                <a:solidFill>
                  <a:srgbClr val="002060"/>
                </a:solidFill>
                <a:cs typeface="Times New Roman" panose="02020603050405020304" pitchFamily="18" charset="0"/>
              </a:rPr>
              <a:t>5.1 </a:t>
            </a:r>
            <a:r>
              <a:rPr lang="en-US" sz="2400" b="1" dirty="0">
                <a:solidFill>
                  <a:srgbClr val="002060"/>
                </a:solidFill>
                <a:cs typeface="Times New Roman" panose="02020603050405020304" pitchFamily="18" charset="0"/>
              </a:rPr>
              <a:t> Literature Survey</a:t>
            </a:r>
            <a:endParaRPr lang="en-IN" sz="2400" b="1" dirty="0">
              <a:solidFill>
                <a:srgbClr val="002060"/>
              </a:solidFill>
              <a:cs typeface="Times New Roman" panose="02020603050405020304" pitchFamily="18" charset="0"/>
            </a:endParaRPr>
          </a:p>
          <a:p>
            <a:endParaRPr lang="en-IN" dirty="0"/>
          </a:p>
        </p:txBody>
      </p:sp>
      <p:sp>
        <p:nvSpPr>
          <p:cNvPr id="3" name="TextBox 2">
            <a:extLst>
              <a:ext uri="{FF2B5EF4-FFF2-40B4-BE49-F238E27FC236}">
                <a16:creationId xmlns:a16="http://schemas.microsoft.com/office/drawing/2014/main" id="{65691263-A168-D8BD-F906-242CA298C13B}"/>
              </a:ext>
            </a:extLst>
          </p:cNvPr>
          <p:cNvSpPr txBox="1"/>
          <p:nvPr/>
        </p:nvSpPr>
        <p:spPr>
          <a:xfrm>
            <a:off x="416560" y="1066801"/>
            <a:ext cx="10342880" cy="5576976"/>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1.Author: Zhang, Y., &amp; Li, S.</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Title: "Stock Price Forecasting Using Machine Learning: A Comparative Study"</a:t>
            </a:r>
          </a:p>
          <a:p>
            <a:pPr algn="just">
              <a:lnSpc>
                <a:spcPct val="150000"/>
              </a:lnSpc>
            </a:pPr>
            <a:r>
              <a:rPr lang="en-US" sz="2000" dirty="0">
                <a:latin typeface="Times New Roman" panose="02020603050405020304" pitchFamily="18" charset="0"/>
                <a:cs typeface="Times New Roman" panose="02020603050405020304" pitchFamily="18" charset="0"/>
              </a:rPr>
              <a:t>Journal: Journal of Financial Data Science, 2021.</a:t>
            </a:r>
          </a:p>
          <a:p>
            <a:pPr algn="just">
              <a:lnSpc>
                <a:spcPct val="150000"/>
              </a:lnSpc>
            </a:pPr>
            <a:r>
              <a:rPr lang="en-US" sz="2000" dirty="0">
                <a:latin typeface="Times New Roman" panose="02020603050405020304" pitchFamily="18" charset="0"/>
                <a:cs typeface="Times New Roman" panose="02020603050405020304" pitchFamily="18" charset="0"/>
              </a:rPr>
              <a:t>Summary: This paper explores various machine learning techniques, including Support Vector Regression (SVR), for stock price forecasting. It discusses the effectiveness of different models and provides insights into how these techniques can be integrated into visualization tools.</a:t>
            </a:r>
          </a:p>
          <a:p>
            <a:pPr algn="just">
              <a:lnSpc>
                <a:spcPct val="150000"/>
              </a:lnSpc>
            </a:pPr>
            <a:r>
              <a:rPr lang="en-US" sz="2000" b="1" dirty="0">
                <a:latin typeface="Times New Roman" panose="02020603050405020304" pitchFamily="18" charset="0"/>
                <a:cs typeface="Times New Roman" panose="02020603050405020304" pitchFamily="18" charset="0"/>
              </a:rPr>
              <a:t>2.Author: Jones, M. A., &amp; Brown, T. H.</a:t>
            </a:r>
          </a:p>
          <a:p>
            <a:pPr algn="just">
              <a:lnSpc>
                <a:spcPct val="150000"/>
              </a:lnSpc>
            </a:pPr>
            <a:r>
              <a:rPr lang="en-US" sz="2000" dirty="0">
                <a:latin typeface="Times New Roman" panose="02020603050405020304" pitchFamily="18" charset="0"/>
                <a:cs typeface="Times New Roman" panose="02020603050405020304" pitchFamily="18" charset="0"/>
              </a:rPr>
              <a:t>Title: "Interactive Data Visualization for Financial Market Analysis: A Dash Application"</a:t>
            </a:r>
          </a:p>
          <a:p>
            <a:pPr algn="just">
              <a:lnSpc>
                <a:spcPct val="150000"/>
              </a:lnSpc>
            </a:pPr>
            <a:r>
              <a:rPr lang="en-US" sz="2000" dirty="0">
                <a:latin typeface="Times New Roman" panose="02020603050405020304" pitchFamily="18" charset="0"/>
                <a:cs typeface="Times New Roman" panose="02020603050405020304" pitchFamily="18" charset="0"/>
              </a:rPr>
              <a:t>Journal: International Journal of Data Science and Analytics, 2022.</a:t>
            </a:r>
          </a:p>
          <a:p>
            <a:pPr algn="just">
              <a:lnSpc>
                <a:spcPct val="150000"/>
              </a:lnSpc>
            </a:pPr>
            <a:r>
              <a:rPr lang="en-US" sz="2000" dirty="0">
                <a:latin typeface="Times New Roman" panose="02020603050405020304" pitchFamily="18" charset="0"/>
                <a:cs typeface="Times New Roman" panose="02020603050405020304" pitchFamily="18" charset="0"/>
              </a:rPr>
              <a:t>Summary: This paper presents a case study on developing an interactive data visualization application using Dash. It highlights how Dash can be utilized to create real-time stock market dashboards and integrates forecasting models, including SVR, to provide actionable insights.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4446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3911C7E8-AE18-2841-516A-BC76EFE9CC46}"/>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67CF8C31-81C6-9354-DA9A-1530F980F5FE}"/>
              </a:ext>
            </a:extLst>
          </p:cNvPr>
          <p:cNvSpPr txBox="1"/>
          <p:nvPr/>
        </p:nvSpPr>
        <p:spPr>
          <a:xfrm>
            <a:off x="335280" y="243840"/>
            <a:ext cx="4795520" cy="738664"/>
          </a:xfrm>
          <a:prstGeom prst="rect">
            <a:avLst/>
          </a:prstGeom>
          <a:noFill/>
        </p:spPr>
        <p:txBody>
          <a:bodyPr wrap="square" rtlCol="0">
            <a:spAutoFit/>
          </a:bodyPr>
          <a:lstStyle/>
          <a:p>
            <a:r>
              <a:rPr lang="en-IN" sz="2400" b="1" dirty="0">
                <a:solidFill>
                  <a:srgbClr val="002060"/>
                </a:solidFill>
                <a:cs typeface="Times New Roman" panose="02020603050405020304" pitchFamily="18" charset="0"/>
              </a:rPr>
              <a:t>5.2 </a:t>
            </a:r>
            <a:r>
              <a:rPr lang="en-US" sz="2400" b="1" dirty="0">
                <a:solidFill>
                  <a:srgbClr val="002060"/>
                </a:solidFill>
                <a:cs typeface="Times New Roman" panose="02020603050405020304" pitchFamily="18" charset="0"/>
              </a:rPr>
              <a:t>Existing System </a:t>
            </a:r>
            <a:endParaRPr lang="en-IN" sz="2400" b="1" dirty="0">
              <a:solidFill>
                <a:srgbClr val="002060"/>
              </a:solidFill>
              <a:cs typeface="Times New Roman" panose="02020603050405020304" pitchFamily="18" charset="0"/>
            </a:endParaRPr>
          </a:p>
          <a:p>
            <a:endParaRPr lang="en-IN" dirty="0"/>
          </a:p>
        </p:txBody>
      </p:sp>
      <p:sp>
        <p:nvSpPr>
          <p:cNvPr id="3" name="TextBox 2">
            <a:extLst>
              <a:ext uri="{FF2B5EF4-FFF2-40B4-BE49-F238E27FC236}">
                <a16:creationId xmlns:a16="http://schemas.microsoft.com/office/drawing/2014/main" id="{6E2D8941-294C-5ACA-B3AB-AEDB42345CEE}"/>
              </a:ext>
            </a:extLst>
          </p:cNvPr>
          <p:cNvSpPr txBox="1"/>
          <p:nvPr/>
        </p:nvSpPr>
        <p:spPr>
          <a:xfrm>
            <a:off x="335280" y="751840"/>
            <a:ext cx="10972800" cy="3730317"/>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An existing system for visualizing and forecasting stocks using Dash typically involves an interactive web application built with Python's Dash framework. The system integrates financial data sources, such as Yahoo Finance or other APIs, to retrieve real-time and historical stock prices. Users can select different stocks, time frames, and indicators (like moving averages or RSI) through an intuitive user interface.</a:t>
            </a:r>
          </a:p>
          <a:p>
            <a:pPr algn="just">
              <a:lnSpc>
                <a:spcPct val="150000"/>
              </a:lnSpc>
            </a:pPr>
            <a:r>
              <a:rPr lang="en-US" sz="2000" dirty="0">
                <a:latin typeface="Times New Roman" panose="02020603050405020304" pitchFamily="18" charset="0"/>
                <a:cs typeface="Times New Roman" panose="02020603050405020304" pitchFamily="18" charset="0"/>
              </a:rPr>
              <a:t>The system visualizes this data using interactive charts, often powered by </a:t>
            </a:r>
            <a:r>
              <a:rPr lang="en-US" sz="2000" dirty="0" err="1">
                <a:latin typeface="Times New Roman" panose="02020603050405020304" pitchFamily="18" charset="0"/>
                <a:cs typeface="Times New Roman" panose="02020603050405020304" pitchFamily="18" charset="0"/>
              </a:rPr>
              <a:t>Plotly</a:t>
            </a:r>
            <a:r>
              <a:rPr lang="en-US" sz="2000" dirty="0">
                <a:latin typeface="Times New Roman" panose="02020603050405020304" pitchFamily="18" charset="0"/>
                <a:cs typeface="Times New Roman" panose="02020603050405020304" pitchFamily="18" charset="0"/>
              </a:rPr>
              <a:t>, allowing users to zoom, hover, and filter the information dynamically. Additionally, forecasting models, such as ARIMA, LSTM, or other machine learning algorithms, are incorporated to predict future stock prices. These forecasts are presented alongside historical data, providing users with visual insights into potential trends.</a:t>
            </a: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7B5268C-F55F-120C-DE18-D016676D2D5D}"/>
              </a:ext>
            </a:extLst>
          </p:cNvPr>
          <p:cNvSpPr txBox="1"/>
          <p:nvPr/>
        </p:nvSpPr>
        <p:spPr>
          <a:xfrm>
            <a:off x="335280" y="4482158"/>
            <a:ext cx="5140960" cy="830997"/>
          </a:xfrm>
          <a:prstGeom prst="rect">
            <a:avLst/>
          </a:prstGeom>
          <a:noFill/>
        </p:spPr>
        <p:txBody>
          <a:bodyPr wrap="square" rtlCol="0">
            <a:spAutoFit/>
          </a:bodyPr>
          <a:lstStyle/>
          <a:p>
            <a:pPr>
              <a:lnSpc>
                <a:spcPct val="150000"/>
              </a:lnSpc>
            </a:pPr>
            <a:r>
              <a:rPr lang="en-US" sz="2000" b="1" dirty="0">
                <a:solidFill>
                  <a:srgbClr val="002060"/>
                </a:solidFill>
                <a:latin typeface="Times New Roman" panose="02020603050405020304" pitchFamily="18" charset="0"/>
                <a:cs typeface="Times New Roman" panose="02020603050405020304" pitchFamily="18" charset="0"/>
              </a:rPr>
              <a:t>5.3 Limitations of Existing System </a:t>
            </a:r>
            <a:endParaRPr lang="en-IN" sz="2000" dirty="0">
              <a:latin typeface="Times New Roman" panose="02020603050405020304" pitchFamily="18" charset="0"/>
              <a:cs typeface="Times New Roman" panose="02020603050405020304" pitchFamily="18" charset="0"/>
            </a:endParaRPr>
          </a:p>
          <a:p>
            <a:endParaRPr lang="en-IN" dirty="0"/>
          </a:p>
        </p:txBody>
      </p:sp>
      <p:sp>
        <p:nvSpPr>
          <p:cNvPr id="7" name="TextBox 6">
            <a:extLst>
              <a:ext uri="{FF2B5EF4-FFF2-40B4-BE49-F238E27FC236}">
                <a16:creationId xmlns:a16="http://schemas.microsoft.com/office/drawing/2014/main" id="{4F56E3B0-EED0-7E34-C02C-37309AA02617}"/>
              </a:ext>
            </a:extLst>
          </p:cNvPr>
          <p:cNvSpPr txBox="1"/>
          <p:nvPr/>
        </p:nvSpPr>
        <p:spPr>
          <a:xfrm>
            <a:off x="335280" y="5090160"/>
            <a:ext cx="10901680" cy="2215991"/>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Performance Bottlenecks: </a:t>
            </a:r>
            <a:r>
              <a:rPr lang="en-US" sz="2000" dirty="0">
                <a:latin typeface="Times New Roman" panose="02020603050405020304" pitchFamily="18" charset="0"/>
                <a:cs typeface="Times New Roman" panose="02020603050405020304" pitchFamily="18" charset="0"/>
              </a:rPr>
              <a:t>Dash applications, particularly those with complex visualizations and large datasets, can suffer from performance issues. As the amount of data or the number of concurrent users increases, the application might become slower, leading to a poor user experience.</a:t>
            </a:r>
          </a:p>
          <a:p>
            <a:pPr algn="just">
              <a:lnSpc>
                <a:spcPct val="150000"/>
              </a:lnSpc>
            </a:pPr>
            <a:endParaRPr lang="en-US"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81650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150E966-D33C-FFCD-1C85-F5705809EA78}"/>
              </a:ext>
            </a:extLst>
          </p:cNvPr>
          <p:cNvSpPr>
            <a:spLocks noGrp="1"/>
          </p:cNvSpPr>
          <p:nvPr>
            <p:ph idx="1"/>
          </p:nvPr>
        </p:nvSpPr>
        <p:spPr>
          <a:xfrm>
            <a:off x="487680" y="436880"/>
            <a:ext cx="10866120" cy="5740083"/>
          </a:xfrm>
        </p:spPr>
        <p:txBody>
          <a:bodyPr>
            <a:normAutofit/>
          </a:bodyPr>
          <a:lstStyle/>
          <a:p>
            <a:pPr marL="0" indent="0" algn="just">
              <a:lnSpc>
                <a:spcPct val="150000"/>
              </a:lnSpc>
              <a:buNone/>
            </a:pPr>
            <a:r>
              <a:rPr lang="en-US" sz="2000" b="1" dirty="0">
                <a:latin typeface="Times New Roman" panose="02020603050405020304" pitchFamily="18" charset="0"/>
                <a:cs typeface="Times New Roman" panose="02020603050405020304" pitchFamily="18" charset="0"/>
              </a:rPr>
              <a:t>Scalability Challenges: </a:t>
            </a:r>
            <a:r>
              <a:rPr lang="en-US" sz="2000" dirty="0">
                <a:latin typeface="Times New Roman" panose="02020603050405020304" pitchFamily="18" charset="0"/>
                <a:cs typeface="Times New Roman" panose="02020603050405020304" pitchFamily="18" charset="0"/>
              </a:rPr>
              <a:t>Scaling a Dash application for multiple users or large datasets can be challenging. Dash is typically not as scalable as other web technologies when it comes to handling high traffic or complex, real-time data updates.</a:t>
            </a:r>
          </a:p>
          <a:p>
            <a:pPr marL="0" indent="0" algn="just">
              <a:lnSpc>
                <a:spcPct val="150000"/>
              </a:lnSpc>
              <a:buNone/>
            </a:pPr>
            <a:r>
              <a:rPr lang="en-US" sz="2000" b="1" dirty="0">
                <a:latin typeface="Times New Roman" panose="02020603050405020304" pitchFamily="18" charset="0"/>
                <a:cs typeface="Times New Roman" panose="02020603050405020304" pitchFamily="18" charset="0"/>
              </a:rPr>
              <a:t>Limited Built-In Machine Learning Tools: </a:t>
            </a:r>
            <a:r>
              <a:rPr lang="en-US" sz="2000" dirty="0">
                <a:latin typeface="Times New Roman" panose="02020603050405020304" pitchFamily="18" charset="0"/>
                <a:cs typeface="Times New Roman" panose="02020603050405020304" pitchFamily="18" charset="0"/>
              </a:rPr>
              <a:t>While Dash can integrate with machine learning models, it does not have built-in machine learning capabilities. Users must develop, train, and deploy these models separately, often requiring additional infrastructure and expertise.</a:t>
            </a:r>
          </a:p>
          <a:p>
            <a:pPr marL="0" indent="0" algn="just">
              <a:lnSpc>
                <a:spcPct val="150000"/>
              </a:lnSpc>
              <a:buNone/>
            </a:pPr>
            <a:r>
              <a:rPr lang="en-US" sz="2000" b="1" dirty="0">
                <a:latin typeface="Times New Roman" panose="02020603050405020304" pitchFamily="18" charset="0"/>
                <a:cs typeface="Times New Roman" panose="02020603050405020304" pitchFamily="18" charset="0"/>
              </a:rPr>
              <a:t>Real-Time Data Limitations: </a:t>
            </a:r>
            <a:r>
              <a:rPr lang="en-US" sz="2000" dirty="0">
                <a:latin typeface="Times New Roman" panose="02020603050405020304" pitchFamily="18" charset="0"/>
                <a:cs typeface="Times New Roman" panose="02020603050405020304" pitchFamily="18" charset="0"/>
              </a:rPr>
              <a:t>Although Dash can visualize real-time data, the frequency and efficiency of real-time updates depend on the backend and data source. High-frequency trading or tick-by-tick data can overwhelm the system, making it difficult to maintain real-time accuracy.</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819484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667F8B2-6C67-9F16-2F74-4055A357D8A7}"/>
              </a:ext>
            </a:extLst>
          </p:cNvPr>
          <p:cNvSpPr>
            <a:spLocks noChangeArrowheads="1"/>
          </p:cNvSpPr>
          <p:nvPr/>
        </p:nvSpPr>
        <p:spPr bwMode="auto">
          <a:xfrm>
            <a:off x="325120" y="121140"/>
            <a:ext cx="10739120" cy="321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N" sz="2300" b="1" kern="1200" dirty="0">
                <a:solidFill>
                  <a:srgbClr val="002060"/>
                </a:solidFill>
                <a:effectLst/>
                <a:latin typeface="Times New Roman" panose="02020603050405020304" pitchFamily="18" charset="0"/>
                <a:cs typeface="Times New Roman" panose="02020603050405020304" pitchFamily="18" charset="0"/>
              </a:rPr>
              <a:t>5.4 </a:t>
            </a:r>
            <a:r>
              <a:rPr lang="en-US" sz="2300" b="1" kern="1200" dirty="0">
                <a:solidFill>
                  <a:srgbClr val="002060"/>
                </a:solidFill>
                <a:effectLst/>
                <a:latin typeface="Times New Roman" panose="02020603050405020304" pitchFamily="18" charset="0"/>
                <a:cs typeface="Times New Roman" panose="02020603050405020304" pitchFamily="18" charset="0"/>
              </a:rPr>
              <a:t>Proposed</a:t>
            </a:r>
            <a:r>
              <a:rPr lang="en-IN" sz="2300" b="1" kern="1200" dirty="0">
                <a:solidFill>
                  <a:srgbClr val="002060"/>
                </a:solidFill>
                <a:effectLst/>
                <a:latin typeface="Times New Roman" panose="02020603050405020304" pitchFamily="18" charset="0"/>
                <a:cs typeface="Times New Roman" panose="02020603050405020304" pitchFamily="18" charset="0"/>
              </a:rPr>
              <a:t> </a:t>
            </a:r>
            <a:r>
              <a:rPr lang="en-US" sz="2300" b="1" kern="1200" dirty="0">
                <a:solidFill>
                  <a:srgbClr val="002060"/>
                </a:solidFill>
                <a:effectLst/>
                <a:latin typeface="Times New Roman" panose="02020603050405020304" pitchFamily="18" charset="0"/>
                <a:cs typeface="Times New Roman" panose="02020603050405020304" pitchFamily="18" charset="0"/>
              </a:rPr>
              <a:t>System </a:t>
            </a:r>
            <a:endParaRPr lang="en-IN" sz="2300" dirty="0">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p:txBody>
      </p:sp>
      <p:sp>
        <p:nvSpPr>
          <p:cNvPr id="6" name="TextBox 5">
            <a:extLst>
              <a:ext uri="{FF2B5EF4-FFF2-40B4-BE49-F238E27FC236}">
                <a16:creationId xmlns:a16="http://schemas.microsoft.com/office/drawing/2014/main" id="{7F74F9DC-BB97-408B-B2A5-5A6162FE26CA}"/>
              </a:ext>
            </a:extLst>
          </p:cNvPr>
          <p:cNvSpPr txBox="1"/>
          <p:nvPr/>
        </p:nvSpPr>
        <p:spPr>
          <a:xfrm>
            <a:off x="325120" y="782320"/>
            <a:ext cx="10861040" cy="5447645"/>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1. Data Acquisition and Preprocessing</a:t>
            </a:r>
          </a:p>
          <a:p>
            <a:pPr algn="just">
              <a:lnSpc>
                <a:spcPct val="150000"/>
              </a:lnSpc>
            </a:pPr>
            <a:r>
              <a:rPr lang="en-US" sz="2000" dirty="0">
                <a:latin typeface="Times New Roman" panose="02020603050405020304" pitchFamily="18" charset="0"/>
                <a:cs typeface="Times New Roman" panose="02020603050405020304" pitchFamily="18" charset="0"/>
              </a:rPr>
              <a:t>Data Sources: The system will fetch historical stock data from reliable financial data sources (e.g., Yahoo Finance, Alpha Vantage).</a:t>
            </a:r>
          </a:p>
          <a:p>
            <a:pPr algn="just">
              <a:lnSpc>
                <a:spcPct val="150000"/>
              </a:lnSpc>
            </a:pPr>
            <a:r>
              <a:rPr lang="en-US" sz="2000" dirty="0">
                <a:latin typeface="Times New Roman" panose="02020603050405020304" pitchFamily="18" charset="0"/>
                <a:cs typeface="Times New Roman" panose="02020603050405020304" pitchFamily="18" charset="0"/>
              </a:rPr>
              <a:t>Preprocessing: The raw data will undergo preprocessing steps such as handling missing values, feature scaling, and transforming date-time features to make it suitable for SVR modeling.</a:t>
            </a:r>
          </a:p>
          <a:p>
            <a:pPr algn="just">
              <a:lnSpc>
                <a:spcPct val="150000"/>
              </a:lnSpc>
            </a:pPr>
            <a:r>
              <a:rPr lang="en-US" sz="2000" b="1" dirty="0">
                <a:latin typeface="Times New Roman" panose="02020603050405020304" pitchFamily="18" charset="0"/>
                <a:cs typeface="Times New Roman" panose="02020603050405020304" pitchFamily="18" charset="0"/>
              </a:rPr>
              <a:t>2. Stock Visualization</a:t>
            </a:r>
          </a:p>
          <a:p>
            <a:pPr algn="just">
              <a:lnSpc>
                <a:spcPct val="150000"/>
              </a:lnSpc>
            </a:pPr>
            <a:r>
              <a:rPr lang="en-US" sz="2000" dirty="0">
                <a:latin typeface="Times New Roman" panose="02020603050405020304" pitchFamily="18" charset="0"/>
                <a:cs typeface="Times New Roman" panose="02020603050405020304" pitchFamily="18" charset="0"/>
              </a:rPr>
              <a:t>Interactive Dashboard: Users can select different stocks and time frames through a user-friendly interface. The dashboard will visualize historical stock prices using interactive </a:t>
            </a:r>
            <a:r>
              <a:rPr lang="en-US" sz="2000" dirty="0" err="1">
                <a:latin typeface="Times New Roman" panose="02020603050405020304" pitchFamily="18" charset="0"/>
                <a:cs typeface="Times New Roman" panose="02020603050405020304" pitchFamily="18" charset="0"/>
              </a:rPr>
              <a:t>Plotly</a:t>
            </a:r>
            <a:r>
              <a:rPr lang="en-US" sz="2000" dirty="0">
                <a:latin typeface="Times New Roman" panose="02020603050405020304" pitchFamily="18" charset="0"/>
                <a:cs typeface="Times New Roman" panose="02020603050405020304" pitchFamily="18" charset="0"/>
              </a:rPr>
              <a:t> charts embedded in Dash.</a:t>
            </a:r>
          </a:p>
          <a:p>
            <a:pPr algn="just">
              <a:lnSpc>
                <a:spcPct val="150000"/>
              </a:lnSpc>
            </a:pPr>
            <a:r>
              <a:rPr lang="en-US" sz="2000" dirty="0">
                <a:latin typeface="Times New Roman" panose="02020603050405020304" pitchFamily="18" charset="0"/>
                <a:cs typeface="Times New Roman" panose="02020603050405020304" pitchFamily="18" charset="0"/>
              </a:rPr>
              <a:t>Technical Indicators: Additional technical indicators like moving averages, Bollinger Bands, or RSI can be overlaid on the stock charts to provide more insights into market trends.</a:t>
            </a:r>
          </a:p>
          <a:p>
            <a:endParaRPr lang="en-IN" dirty="0"/>
          </a:p>
        </p:txBody>
      </p:sp>
    </p:spTree>
    <p:extLst>
      <p:ext uri="{BB962C8B-B14F-4D97-AF65-F5344CB8AC3E}">
        <p14:creationId xmlns:p14="http://schemas.microsoft.com/office/powerpoint/2010/main" val="2515585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181AD6-AB2F-4F14-BF87-FB3F2F249E52}"/>
              </a:ext>
            </a:extLst>
          </p:cNvPr>
          <p:cNvSpPr>
            <a:spLocks noGrp="1"/>
          </p:cNvSpPr>
          <p:nvPr>
            <p:ph idx="1"/>
          </p:nvPr>
        </p:nvSpPr>
        <p:spPr>
          <a:xfrm>
            <a:off x="599440" y="254000"/>
            <a:ext cx="10754360" cy="5922963"/>
          </a:xfrm>
        </p:spPr>
        <p:txBody>
          <a:bodyPr>
            <a:normAutofit fontScale="85000" lnSpcReduction="10000"/>
          </a:bodyPr>
          <a:lstStyle/>
          <a:p>
            <a:pPr marL="0" indent="0" algn="just">
              <a:lnSpc>
                <a:spcPct val="160000"/>
              </a:lnSpc>
              <a:buNone/>
            </a:pPr>
            <a:r>
              <a:rPr lang="en-US" sz="2000" b="1" dirty="0">
                <a:latin typeface="Times New Roman" panose="02020603050405020304" pitchFamily="18" charset="0"/>
                <a:cs typeface="Times New Roman" panose="02020603050405020304" pitchFamily="18" charset="0"/>
              </a:rPr>
              <a:t>3. Support Vector Regression (SVR) for Forecasting</a:t>
            </a:r>
          </a:p>
          <a:p>
            <a:pPr marL="0" indent="0" algn="just">
              <a:lnSpc>
                <a:spcPct val="160000"/>
              </a:lnSpc>
              <a:buNone/>
            </a:pPr>
            <a:r>
              <a:rPr lang="en-US" sz="2000" dirty="0">
                <a:latin typeface="Times New Roman" panose="02020603050405020304" pitchFamily="18" charset="0"/>
                <a:cs typeface="Times New Roman" panose="02020603050405020304" pitchFamily="18" charset="0"/>
              </a:rPr>
              <a:t>Model Training: The system will implement SVR, a powerful machine learning model, to predict future stock prices. The model will be trained on historical stock data, with features like previous closing prices, trading volume, and technical indicators.</a:t>
            </a:r>
          </a:p>
          <a:p>
            <a:pPr marL="0" indent="0" algn="just">
              <a:lnSpc>
                <a:spcPct val="160000"/>
              </a:lnSpc>
              <a:buNone/>
            </a:pPr>
            <a:r>
              <a:rPr lang="en-US" sz="2000" dirty="0">
                <a:latin typeface="Times New Roman" panose="02020603050405020304" pitchFamily="18" charset="0"/>
                <a:cs typeface="Times New Roman" panose="02020603050405020304" pitchFamily="18" charset="0"/>
              </a:rPr>
              <a:t>Forecasting: Once trained, the SVR model will generate stock price forecasts for the selected time horizon. The forecasted data will be visualized alongside historical data to allow users to compare and interpret the predicted trends.</a:t>
            </a:r>
          </a:p>
          <a:p>
            <a:pPr marL="0" indent="0" algn="just">
              <a:lnSpc>
                <a:spcPct val="160000"/>
              </a:lnSpc>
              <a:buNone/>
            </a:pPr>
            <a:r>
              <a:rPr lang="en-US" sz="2000" b="1" dirty="0">
                <a:latin typeface="Times New Roman" panose="02020603050405020304" pitchFamily="18" charset="0"/>
                <a:cs typeface="Times New Roman" panose="02020603050405020304" pitchFamily="18" charset="0"/>
              </a:rPr>
              <a:t>4. Model Evaluation</a:t>
            </a:r>
          </a:p>
          <a:p>
            <a:pPr marL="0" indent="0" algn="just">
              <a:lnSpc>
                <a:spcPct val="160000"/>
              </a:lnSpc>
              <a:buNone/>
            </a:pPr>
            <a:r>
              <a:rPr lang="en-US" sz="2000" dirty="0">
                <a:latin typeface="Times New Roman" panose="02020603050405020304" pitchFamily="18" charset="0"/>
                <a:cs typeface="Times New Roman" panose="02020603050405020304" pitchFamily="18" charset="0"/>
              </a:rPr>
              <a:t>Mean Squared Error (MSE): The system will compute MSE to evaluate the average of the squared differences between the predicted and actual stock prices. This metric penalizes larger errors more heavily, providing a sense of the model's overall accuracy.</a:t>
            </a:r>
          </a:p>
          <a:p>
            <a:pPr marL="0" indent="0" algn="just">
              <a:lnSpc>
                <a:spcPct val="160000"/>
              </a:lnSpc>
              <a:buNone/>
            </a:pPr>
            <a:r>
              <a:rPr lang="en-US" sz="2000" dirty="0">
                <a:latin typeface="Times New Roman" panose="02020603050405020304" pitchFamily="18" charset="0"/>
                <a:cs typeface="Times New Roman" panose="02020603050405020304" pitchFamily="18" charset="0"/>
              </a:rPr>
              <a:t>Mean Absolute Error (MAE): MAE will be used to measure the average magnitude of the errors in a set of predictions, without considering their direction. It gives a clear indication of the average prediction error in the same units as the stock prices.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9168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7D2E6A-E665-24B4-948A-AB38349BFC66}"/>
              </a:ext>
            </a:extLst>
          </p:cNvPr>
          <p:cNvSpPr txBox="1"/>
          <p:nvPr/>
        </p:nvSpPr>
        <p:spPr>
          <a:xfrm>
            <a:off x="182880" y="172720"/>
            <a:ext cx="4348480" cy="738664"/>
          </a:xfrm>
          <a:prstGeom prst="rect">
            <a:avLst/>
          </a:prstGeom>
          <a:noFill/>
        </p:spPr>
        <p:txBody>
          <a:bodyPr wrap="square" rtlCol="0">
            <a:spAutoFit/>
          </a:bodyPr>
          <a:lstStyle/>
          <a:p>
            <a:r>
              <a:rPr lang="en-US" sz="2400" b="1" dirty="0">
                <a:solidFill>
                  <a:srgbClr val="002060"/>
                </a:solidFill>
                <a:latin typeface="Times New Roman" panose="02020603050405020304" pitchFamily="18" charset="0"/>
                <a:cs typeface="Times New Roman" panose="02020603050405020304" pitchFamily="18" charset="0"/>
              </a:rPr>
              <a:t>Advantages of proposed system</a:t>
            </a:r>
          </a:p>
          <a:p>
            <a:endParaRPr lang="en-IN" dirty="0"/>
          </a:p>
        </p:txBody>
      </p:sp>
      <p:sp>
        <p:nvSpPr>
          <p:cNvPr id="5" name="TextBox 4">
            <a:extLst>
              <a:ext uri="{FF2B5EF4-FFF2-40B4-BE49-F238E27FC236}">
                <a16:creationId xmlns:a16="http://schemas.microsoft.com/office/drawing/2014/main" id="{327687E6-EF05-A98E-C8EF-40F9F39E9BC0}"/>
              </a:ext>
            </a:extLst>
          </p:cNvPr>
          <p:cNvSpPr txBox="1"/>
          <p:nvPr/>
        </p:nvSpPr>
        <p:spPr>
          <a:xfrm>
            <a:off x="426720" y="528320"/>
            <a:ext cx="10901680" cy="6507935"/>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1. Improved Prediction Accuracy</a:t>
            </a:r>
          </a:p>
          <a:p>
            <a:pPr algn="just">
              <a:lnSpc>
                <a:spcPct val="150000"/>
              </a:lnSpc>
            </a:pPr>
            <a:r>
              <a:rPr lang="en-US" sz="2000" dirty="0">
                <a:latin typeface="Times New Roman" panose="02020603050405020304" pitchFamily="18" charset="0"/>
                <a:cs typeface="Times New Roman" panose="02020603050405020304" pitchFamily="18" charset="0"/>
              </a:rPr>
              <a:t>Support Vector Regression (SVR) is a robust machine learning technique that can handle non-linear relationships in stock data, leading to more accurate predictions compared to traditional linear models.</a:t>
            </a:r>
          </a:p>
          <a:p>
            <a:pPr algn="just">
              <a:lnSpc>
                <a:spcPct val="150000"/>
              </a:lnSpc>
            </a:pPr>
            <a:r>
              <a:rPr lang="en-US" sz="2000" b="1" dirty="0">
                <a:latin typeface="Times New Roman" panose="02020603050405020304" pitchFamily="18" charset="0"/>
                <a:cs typeface="Times New Roman" panose="02020603050405020304" pitchFamily="18" charset="0"/>
              </a:rPr>
              <a:t>2. Comprehensive Model Evaluation</a:t>
            </a:r>
          </a:p>
          <a:p>
            <a:pPr algn="just">
              <a:lnSpc>
                <a:spcPct val="150000"/>
              </a:lnSpc>
            </a:pPr>
            <a:r>
              <a:rPr lang="en-US" sz="2000" dirty="0">
                <a:latin typeface="Times New Roman" panose="02020603050405020304" pitchFamily="18" charset="0"/>
                <a:cs typeface="Times New Roman" panose="02020603050405020304" pitchFamily="18" charset="0"/>
              </a:rPr>
              <a:t>Utilizing Mean Squared Error (MSE) and Mean Absolute Error (MAE) allows for a thorough evaluation of the model’s performance, providing insights into both the average error and the impact of larger errors on forecasts.</a:t>
            </a:r>
          </a:p>
          <a:p>
            <a:pPr algn="just">
              <a:lnSpc>
                <a:spcPct val="150000"/>
              </a:lnSpc>
            </a:pPr>
            <a:r>
              <a:rPr lang="en-US" sz="2000" b="1" dirty="0">
                <a:latin typeface="Times New Roman" panose="02020603050405020304" pitchFamily="18" charset="0"/>
                <a:cs typeface="Times New Roman" panose="02020603050405020304" pitchFamily="18" charset="0"/>
              </a:rPr>
              <a:t>3. Interactive and Customizable Visualization</a:t>
            </a:r>
          </a:p>
          <a:p>
            <a:pPr algn="just">
              <a:lnSpc>
                <a:spcPct val="150000"/>
              </a:lnSpc>
            </a:pPr>
            <a:r>
              <a:rPr lang="en-US" sz="2000" dirty="0">
                <a:latin typeface="Times New Roman" panose="02020603050405020304" pitchFamily="18" charset="0"/>
                <a:cs typeface="Times New Roman" panose="02020603050405020304" pitchFamily="18" charset="0"/>
              </a:rPr>
              <a:t>The Dash framework offers an interactive, user-friendly interface, enabling users to customize their stock analysis experience by selecting different stocks, timeframes, and model parameters.</a:t>
            </a:r>
          </a:p>
          <a:p>
            <a:pPr algn="just">
              <a:lnSpc>
                <a:spcPct val="150000"/>
              </a:lnSpc>
            </a:pPr>
            <a:r>
              <a:rPr lang="en-US" sz="2000" b="1" dirty="0"/>
              <a:t>4</a:t>
            </a:r>
            <a:r>
              <a:rPr lang="en-US" sz="2000" b="1" dirty="0">
                <a:latin typeface="Times New Roman" panose="02020603050405020304" pitchFamily="18" charset="0"/>
                <a:cs typeface="Times New Roman" panose="02020603050405020304" pitchFamily="18" charset="0"/>
              </a:rPr>
              <a:t>. Real-Time Forecasting</a:t>
            </a:r>
          </a:p>
          <a:p>
            <a:pPr algn="just">
              <a:lnSpc>
                <a:spcPct val="150000"/>
              </a:lnSpc>
            </a:pPr>
            <a:r>
              <a:rPr lang="en-US" sz="2000" dirty="0">
                <a:latin typeface="Times New Roman" panose="02020603050405020304" pitchFamily="18" charset="0"/>
                <a:cs typeface="Times New Roman" panose="02020603050405020304" pitchFamily="18" charset="0"/>
              </a:rPr>
              <a:t>The proposed system can integrate real-time data feeds, allowing for up-to-date stock forecasts that are crucial for making timely investment decisions.</a:t>
            </a:r>
          </a:p>
          <a:p>
            <a:pPr algn="just">
              <a:lnSpc>
                <a:spcPct val="150000"/>
              </a:lnSpc>
            </a:pPr>
            <a:endParaRPr lang="en-IN" sz="2000" dirty="0"/>
          </a:p>
        </p:txBody>
      </p:sp>
    </p:spTree>
    <p:extLst>
      <p:ext uri="{BB962C8B-B14F-4D97-AF65-F5344CB8AC3E}">
        <p14:creationId xmlns:p14="http://schemas.microsoft.com/office/powerpoint/2010/main" val="4268165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F81E1F-2F44-F92C-3C82-3772C9E0A5E9}"/>
              </a:ext>
            </a:extLst>
          </p:cNvPr>
          <p:cNvSpPr txBox="1"/>
          <p:nvPr/>
        </p:nvSpPr>
        <p:spPr>
          <a:xfrm>
            <a:off x="396240" y="213360"/>
            <a:ext cx="5039360" cy="738664"/>
          </a:xfrm>
          <a:prstGeom prst="rect">
            <a:avLst/>
          </a:prstGeom>
          <a:noFill/>
        </p:spPr>
        <p:txBody>
          <a:bodyPr wrap="square" rtlCol="0">
            <a:spAutoFit/>
          </a:bodyPr>
          <a:lstStyle/>
          <a:p>
            <a:r>
              <a:rPr lang="en-US" sz="2400" b="1" dirty="0">
                <a:solidFill>
                  <a:srgbClr val="002060"/>
                </a:solidFill>
                <a:latin typeface="Times New Roman" panose="02020603050405020304" pitchFamily="18" charset="0"/>
                <a:cs typeface="Times New Roman" panose="02020603050405020304" pitchFamily="18" charset="0"/>
              </a:rPr>
              <a:t>Key Features of proposed system</a:t>
            </a:r>
          </a:p>
          <a:p>
            <a:endParaRPr lang="en-IN" dirty="0"/>
          </a:p>
        </p:txBody>
      </p:sp>
      <p:sp>
        <p:nvSpPr>
          <p:cNvPr id="5" name="TextBox 4">
            <a:extLst>
              <a:ext uri="{FF2B5EF4-FFF2-40B4-BE49-F238E27FC236}">
                <a16:creationId xmlns:a16="http://schemas.microsoft.com/office/drawing/2014/main" id="{4748A079-2CC7-B36C-2BA7-8E408D6620E0}"/>
              </a:ext>
            </a:extLst>
          </p:cNvPr>
          <p:cNvSpPr txBox="1"/>
          <p:nvPr/>
        </p:nvSpPr>
        <p:spPr>
          <a:xfrm>
            <a:off x="325120" y="701040"/>
            <a:ext cx="10962640" cy="7109639"/>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1.Scalability and Accessibility</a:t>
            </a:r>
          </a:p>
          <a:p>
            <a:pPr algn="just">
              <a:lnSpc>
                <a:spcPct val="150000"/>
              </a:lnSpc>
            </a:pPr>
            <a:r>
              <a:rPr lang="en-US" sz="2000" dirty="0">
                <a:latin typeface="Times New Roman" panose="02020603050405020304" pitchFamily="18" charset="0"/>
                <a:cs typeface="Times New Roman" panose="02020603050405020304" pitchFamily="18" charset="0"/>
              </a:rPr>
              <a:t>Deployed as a web application, making it accessible from any browser and scalable to handle multiple users and large datasets efficiently.</a:t>
            </a:r>
          </a:p>
          <a:p>
            <a:pPr algn="just">
              <a:lnSpc>
                <a:spcPct val="150000"/>
              </a:lnSpc>
            </a:pPr>
            <a:r>
              <a:rPr lang="en-US" sz="2000" b="1" dirty="0">
                <a:latin typeface="Times New Roman" panose="02020603050405020304" pitchFamily="18" charset="0"/>
                <a:cs typeface="Times New Roman" panose="02020603050405020304" pitchFamily="18" charset="0"/>
              </a:rPr>
              <a:t>2.Secure Data Handling</a:t>
            </a:r>
          </a:p>
          <a:p>
            <a:pPr algn="just">
              <a:lnSpc>
                <a:spcPct val="150000"/>
              </a:lnSpc>
            </a:pPr>
            <a:r>
              <a:rPr lang="en-US" sz="2000" dirty="0">
                <a:latin typeface="Times New Roman" panose="02020603050405020304" pitchFamily="18" charset="0"/>
                <a:cs typeface="Times New Roman" panose="02020603050405020304" pitchFamily="18" charset="0"/>
              </a:rPr>
              <a:t>Implements secure data transmission and storage practices to protect sensitive financial information and ensure user data privacy.</a:t>
            </a:r>
          </a:p>
          <a:p>
            <a:pPr algn="just">
              <a:lnSpc>
                <a:spcPct val="150000"/>
              </a:lnSpc>
            </a:pPr>
            <a:r>
              <a:rPr lang="en-US" sz="2000" b="1" dirty="0">
                <a:latin typeface="Times New Roman" panose="02020603050405020304" pitchFamily="18" charset="0"/>
                <a:cs typeface="Times New Roman" panose="02020603050405020304" pitchFamily="18" charset="0"/>
              </a:rPr>
              <a:t>3.Enhanced User Control</a:t>
            </a:r>
          </a:p>
          <a:p>
            <a:pPr algn="just">
              <a:lnSpc>
                <a:spcPct val="150000"/>
              </a:lnSpc>
            </a:pPr>
            <a:r>
              <a:rPr lang="en-US" sz="2000" dirty="0">
                <a:latin typeface="Times New Roman" panose="02020603050405020304" pitchFamily="18" charset="0"/>
                <a:cs typeface="Times New Roman" panose="02020603050405020304" pitchFamily="18" charset="0"/>
              </a:rPr>
              <a:t>Users can fine-tune SVR model parameters within the interface, providing them with control over the forecasting process and the ability to see how different configurations affect predictions.</a:t>
            </a:r>
          </a:p>
          <a:p>
            <a:pPr algn="just">
              <a:lnSpc>
                <a:spcPct val="150000"/>
              </a:lnSpc>
            </a:pPr>
            <a:r>
              <a:rPr lang="en-US" sz="2000" b="1" dirty="0">
                <a:latin typeface="Times New Roman" panose="02020603050405020304" pitchFamily="18" charset="0"/>
                <a:cs typeface="Times New Roman" panose="02020603050405020304" pitchFamily="18" charset="0"/>
              </a:rPr>
              <a:t>4.User-Friendly Interface</a:t>
            </a:r>
          </a:p>
          <a:p>
            <a:pPr algn="just">
              <a:lnSpc>
                <a:spcPct val="150000"/>
              </a:lnSpc>
            </a:pPr>
            <a:r>
              <a:rPr lang="en-US" sz="2000" dirty="0">
                <a:latin typeface="Times New Roman" panose="02020603050405020304" pitchFamily="18" charset="0"/>
                <a:cs typeface="Times New Roman" panose="02020603050405020304" pitchFamily="18" charset="0"/>
              </a:rPr>
              <a:t>Built with Dash, the application offers an intuitive interface that simplifies navigation and data interaction, making advanced forecasting accessible to users of varying expertise.</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endParaRPr lang="en-US" dirty="0"/>
          </a:p>
          <a:p>
            <a:endParaRPr lang="en-IN" dirty="0"/>
          </a:p>
        </p:txBody>
      </p:sp>
    </p:spTree>
    <p:extLst>
      <p:ext uri="{BB962C8B-B14F-4D97-AF65-F5344CB8AC3E}">
        <p14:creationId xmlns:p14="http://schemas.microsoft.com/office/powerpoint/2010/main" val="762330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B9452-F7A8-EEC9-E914-B2C4F0266CE3}"/>
              </a:ext>
            </a:extLst>
          </p:cNvPr>
          <p:cNvSpPr>
            <a:spLocks noGrp="1"/>
          </p:cNvSpPr>
          <p:nvPr>
            <p:ph type="title"/>
          </p:nvPr>
        </p:nvSpPr>
        <p:spPr>
          <a:xfrm>
            <a:off x="132080" y="-375919"/>
            <a:ext cx="11221720" cy="1463039"/>
          </a:xfrm>
        </p:spPr>
        <p:txBody>
          <a:bodyPr>
            <a:normAutofit/>
          </a:bodyPr>
          <a:lstStyle/>
          <a:p>
            <a:r>
              <a:rPr lang="en-IN" sz="3600" b="1" dirty="0">
                <a:solidFill>
                  <a:schemeClr val="accent5">
                    <a:lumMod val="50000"/>
                  </a:schemeClr>
                </a:solidFill>
                <a:latin typeface="Times New Roman" panose="02020603050405020304" pitchFamily="18" charset="0"/>
                <a:cs typeface="Times New Roman" panose="02020603050405020304" pitchFamily="18" charset="0"/>
              </a:rPr>
              <a:t>6.Project Architecture </a:t>
            </a:r>
          </a:p>
        </p:txBody>
      </p:sp>
      <p:sp>
        <p:nvSpPr>
          <p:cNvPr id="3" name="Content Placeholder 2">
            <a:extLst>
              <a:ext uri="{FF2B5EF4-FFF2-40B4-BE49-F238E27FC236}">
                <a16:creationId xmlns:a16="http://schemas.microsoft.com/office/drawing/2014/main" id="{814518FA-FA02-7FDB-0A94-4258E0B91116}"/>
              </a:ext>
            </a:extLst>
          </p:cNvPr>
          <p:cNvSpPr>
            <a:spLocks noGrp="1"/>
          </p:cNvSpPr>
          <p:nvPr>
            <p:ph idx="1"/>
          </p:nvPr>
        </p:nvSpPr>
        <p:spPr>
          <a:xfrm>
            <a:off x="243840" y="660401"/>
            <a:ext cx="10591800" cy="701040"/>
          </a:xfrm>
        </p:spPr>
        <p:txBody>
          <a:bodyPr>
            <a:normAutofit/>
          </a:bodyPr>
          <a:lstStyle/>
          <a:p>
            <a:pPr marL="0" indent="0">
              <a:buNone/>
            </a:pPr>
            <a:r>
              <a:rPr lang="en-IN" sz="2400" b="1" dirty="0">
                <a:solidFill>
                  <a:schemeClr val="accent1">
                    <a:lumMod val="50000"/>
                  </a:schemeClr>
                </a:solidFill>
                <a:latin typeface="Times New Roman" panose="02020603050405020304" pitchFamily="18" charset="0"/>
                <a:cs typeface="Times New Roman" panose="02020603050405020304" pitchFamily="18" charset="0"/>
              </a:rPr>
              <a:t>6.6.1 Architecture Diagram</a:t>
            </a:r>
          </a:p>
        </p:txBody>
      </p:sp>
      <p:pic>
        <p:nvPicPr>
          <p:cNvPr id="1030" name="Picture 6" descr="PlantUML Diagram">
            <a:extLst>
              <a:ext uri="{FF2B5EF4-FFF2-40B4-BE49-F238E27FC236}">
                <a16:creationId xmlns:a16="http://schemas.microsoft.com/office/drawing/2014/main" id="{FB6209C5-AA78-A5AA-2016-7DD6D29556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4" y="1361441"/>
            <a:ext cx="6509384" cy="500887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C04A1D3-6780-279A-9E08-0772DF70FE09}"/>
              </a:ext>
            </a:extLst>
          </p:cNvPr>
          <p:cNvSpPr txBox="1"/>
          <p:nvPr/>
        </p:nvSpPr>
        <p:spPr>
          <a:xfrm>
            <a:off x="6827520" y="660401"/>
            <a:ext cx="5039360" cy="5324535"/>
          </a:xfrm>
          <a:prstGeom prst="rect">
            <a:avLst/>
          </a:prstGeom>
          <a:noFill/>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Application:</a:t>
            </a:r>
            <a:r>
              <a:rPr lang="en-US" sz="2000" dirty="0">
                <a:latin typeface="Times New Roman" panose="02020603050405020304" pitchFamily="18" charset="0"/>
                <a:cs typeface="Times New Roman" panose="02020603050405020304" pitchFamily="18" charset="0"/>
              </a:rPr>
              <a:t> This is the main component, which orchestrates everything. It calls methods to load stock data, forecast prices, visualize trends, and provide recommendations.</a:t>
            </a:r>
          </a:p>
          <a:p>
            <a:pPr algn="just"/>
            <a:r>
              <a:rPr lang="en-US" sz="2000" b="1" dirty="0">
                <a:latin typeface="Times New Roman" panose="02020603050405020304" pitchFamily="18" charset="0"/>
                <a:cs typeface="Times New Roman" panose="02020603050405020304" pitchFamily="18" charset="0"/>
              </a:rPr>
              <a:t>Stock Data: </a:t>
            </a:r>
            <a:r>
              <a:rPr lang="en-US" sz="2000" dirty="0">
                <a:latin typeface="Times New Roman" panose="02020603050405020304" pitchFamily="18" charset="0"/>
                <a:cs typeface="Times New Roman" panose="02020603050405020304" pitchFamily="18" charset="0"/>
              </a:rPr>
              <a:t>Responsible for fetching both historical and real-time stock data, and calculating metrics such as moving averages and volatility.</a:t>
            </a:r>
          </a:p>
          <a:p>
            <a:pPr algn="just"/>
            <a:r>
              <a:rPr lang="en-US" sz="2000" b="1" dirty="0">
                <a:latin typeface="Times New Roman" panose="02020603050405020304" pitchFamily="18" charset="0"/>
                <a:cs typeface="Times New Roman" panose="02020603050405020304" pitchFamily="18" charset="0"/>
              </a:rPr>
              <a:t>SVR Model: </a:t>
            </a:r>
            <a:r>
              <a:rPr lang="en-US" sz="2000" dirty="0">
                <a:latin typeface="Times New Roman" panose="02020603050405020304" pitchFamily="18" charset="0"/>
                <a:cs typeface="Times New Roman" panose="02020603050405020304" pitchFamily="18" charset="0"/>
              </a:rPr>
              <a:t>The Support Vector Regression model that is trained on the stock data and used to predict future stock prices.</a:t>
            </a:r>
          </a:p>
          <a:p>
            <a:pPr algn="just"/>
            <a:r>
              <a:rPr lang="en-US" sz="2000" b="1" dirty="0">
                <a:latin typeface="Times New Roman" panose="02020603050405020304" pitchFamily="18" charset="0"/>
                <a:cs typeface="Times New Roman" panose="02020603050405020304" pitchFamily="18" charset="0"/>
              </a:rPr>
              <a:t>Visualization:</a:t>
            </a:r>
            <a:r>
              <a:rPr lang="en-US" sz="2000" dirty="0">
                <a:latin typeface="Times New Roman" panose="02020603050405020304" pitchFamily="18" charset="0"/>
                <a:cs typeface="Times New Roman" panose="02020603050405020304" pitchFamily="18" charset="0"/>
              </a:rPr>
              <a:t> Handles the graphical representation of stock data, both historical and forecasted, using interactive charts.</a:t>
            </a:r>
          </a:p>
          <a:p>
            <a:pPr algn="just"/>
            <a:r>
              <a:rPr lang="en-US" sz="2000" b="1" dirty="0">
                <a:latin typeface="Times New Roman" panose="02020603050405020304" pitchFamily="18" charset="0"/>
                <a:cs typeface="Times New Roman" panose="02020603050405020304" pitchFamily="18" charset="0"/>
              </a:rPr>
              <a:t>Recommendation System: </a:t>
            </a:r>
            <a:r>
              <a:rPr lang="en-US" sz="2000" dirty="0">
                <a:latin typeface="Times New Roman" panose="02020603050405020304" pitchFamily="18" charset="0"/>
                <a:cs typeface="Times New Roman" panose="02020603050405020304" pitchFamily="18" charset="0"/>
              </a:rPr>
              <a:t>Analyzes the model's predictions and suggests buy, sell, or hold actions to the user.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2326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E84B5-F77A-8D49-384A-0FA9470C6319}"/>
              </a:ext>
            </a:extLst>
          </p:cNvPr>
          <p:cNvSpPr>
            <a:spLocks noGrp="1"/>
          </p:cNvSpPr>
          <p:nvPr>
            <p:ph type="title"/>
          </p:nvPr>
        </p:nvSpPr>
        <p:spPr>
          <a:xfrm>
            <a:off x="365760" y="-314959"/>
            <a:ext cx="10988040" cy="1320800"/>
          </a:xfrm>
        </p:spPr>
        <p:txBody>
          <a:bodyPr>
            <a:normAutofit/>
          </a:bodyPr>
          <a:lstStyle/>
          <a:p>
            <a:pPr algn="just"/>
            <a:r>
              <a:rPr lang="en-IN" sz="2400" b="1" dirty="0">
                <a:solidFill>
                  <a:schemeClr val="accent5">
                    <a:lumMod val="50000"/>
                  </a:schemeClr>
                </a:solidFill>
                <a:latin typeface="Times New Roman" panose="02020603050405020304" pitchFamily="18" charset="0"/>
                <a:cs typeface="Times New Roman" panose="02020603050405020304" pitchFamily="18" charset="0"/>
              </a:rPr>
              <a:t>6.6.2 Data flow Diagram</a:t>
            </a:r>
          </a:p>
        </p:txBody>
      </p:sp>
      <p:pic>
        <p:nvPicPr>
          <p:cNvPr id="2050" name="Picture 2" descr="PlantUML Diagram">
            <a:extLst>
              <a:ext uri="{FF2B5EF4-FFF2-40B4-BE49-F238E27FC236}">
                <a16:creationId xmlns:a16="http://schemas.microsoft.com/office/drawing/2014/main" id="{6E1D7C2B-0F38-FABE-E0BF-34452E5A30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6080" y="853440"/>
            <a:ext cx="8178800" cy="5151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3733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38332-0E0F-8234-5354-34FF2C80F6D2}"/>
              </a:ext>
            </a:extLst>
          </p:cNvPr>
          <p:cNvSpPr>
            <a:spLocks noGrp="1"/>
          </p:cNvSpPr>
          <p:nvPr>
            <p:ph type="title"/>
          </p:nvPr>
        </p:nvSpPr>
        <p:spPr>
          <a:xfrm>
            <a:off x="213360" y="-447039"/>
            <a:ext cx="11140440" cy="1656080"/>
          </a:xfrm>
        </p:spPr>
        <p:txBody>
          <a:bodyPr>
            <a:normAutofit/>
          </a:bodyPr>
          <a:lstStyle/>
          <a:p>
            <a:r>
              <a:rPr lang="en-IN" sz="2400" b="1" dirty="0">
                <a:solidFill>
                  <a:schemeClr val="accent1">
                    <a:lumMod val="50000"/>
                  </a:schemeClr>
                </a:solidFill>
                <a:latin typeface="Times New Roman" panose="02020603050405020304" pitchFamily="18" charset="0"/>
                <a:cs typeface="Times New Roman" panose="02020603050405020304" pitchFamily="18" charset="0"/>
              </a:rPr>
              <a:t>6.6.3 Class Diagram</a:t>
            </a:r>
          </a:p>
        </p:txBody>
      </p:sp>
      <p:pic>
        <p:nvPicPr>
          <p:cNvPr id="3076" name="Picture 4" descr="PlantUML Diagram">
            <a:extLst>
              <a:ext uri="{FF2B5EF4-FFF2-40B4-BE49-F238E27FC236}">
                <a16:creationId xmlns:a16="http://schemas.microsoft.com/office/drawing/2014/main" id="{D77E7676-5FE6-97F2-6C66-9A0AADD8FCC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8159" y="1036320"/>
            <a:ext cx="6289041" cy="521208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A4CEBEC-BFF4-30D7-8B3C-2F6E573BAF09}"/>
              </a:ext>
            </a:extLst>
          </p:cNvPr>
          <p:cNvSpPr txBox="1"/>
          <p:nvPr/>
        </p:nvSpPr>
        <p:spPr>
          <a:xfrm>
            <a:off x="7112000" y="822960"/>
            <a:ext cx="4561842" cy="5632311"/>
          </a:xfrm>
          <a:prstGeom prst="rect">
            <a:avLst/>
          </a:prstGeom>
          <a:noFill/>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Stock App: </a:t>
            </a:r>
            <a:r>
              <a:rPr lang="en-US" sz="2000" dirty="0">
                <a:latin typeface="Times New Roman" panose="02020603050405020304" pitchFamily="18" charset="0"/>
                <a:cs typeface="Times New Roman" panose="02020603050405020304" pitchFamily="18" charset="0"/>
              </a:rPr>
              <a:t>Main application class responsible for loading data and updating the dashboard.</a:t>
            </a:r>
          </a:p>
          <a:p>
            <a:pPr algn="just"/>
            <a:r>
              <a:rPr lang="en-US" sz="2000" b="1" dirty="0">
                <a:latin typeface="Times New Roman" panose="02020603050405020304" pitchFamily="18" charset="0"/>
                <a:cs typeface="Times New Roman" panose="02020603050405020304" pitchFamily="18" charset="0"/>
              </a:rPr>
              <a:t>Stock Data: </a:t>
            </a:r>
            <a:r>
              <a:rPr lang="en-US" sz="2000" dirty="0">
                <a:latin typeface="Times New Roman" panose="02020603050405020304" pitchFamily="18" charset="0"/>
                <a:cs typeface="Times New Roman" panose="02020603050405020304" pitchFamily="18" charset="0"/>
              </a:rPr>
              <a:t>Handles historical stock data, fetching and calculating performance metrics.</a:t>
            </a:r>
          </a:p>
          <a:p>
            <a:pPr algn="just"/>
            <a:r>
              <a:rPr lang="en-US" sz="2000" b="1" dirty="0">
                <a:latin typeface="Times New Roman" panose="02020603050405020304" pitchFamily="18" charset="0"/>
                <a:cs typeface="Times New Roman" panose="02020603050405020304" pitchFamily="18" charset="0"/>
              </a:rPr>
              <a:t>SVR Model: </a:t>
            </a:r>
            <a:r>
              <a:rPr lang="en-US" sz="2000" dirty="0">
                <a:latin typeface="Times New Roman" panose="02020603050405020304" pitchFamily="18" charset="0"/>
                <a:cs typeface="Times New Roman" panose="02020603050405020304" pitchFamily="18" charset="0"/>
              </a:rPr>
              <a:t>Represents the Support Vector Regression model, used to train on historical data and make predictions.</a:t>
            </a:r>
          </a:p>
          <a:p>
            <a:pPr algn="just"/>
            <a:r>
              <a:rPr lang="en-US" sz="2000" b="1" dirty="0">
                <a:latin typeface="Times New Roman" panose="02020603050405020304" pitchFamily="18" charset="0"/>
                <a:cs typeface="Times New Roman" panose="02020603050405020304" pitchFamily="18" charset="0"/>
              </a:rPr>
              <a:t>Visualization:</a:t>
            </a:r>
            <a:r>
              <a:rPr lang="en-US" sz="2000" dirty="0">
                <a:latin typeface="Times New Roman" panose="02020603050405020304" pitchFamily="18" charset="0"/>
                <a:cs typeface="Times New Roman" panose="02020603050405020304" pitchFamily="18" charset="0"/>
              </a:rPr>
              <a:t> Manages data visualization and forecast display.</a:t>
            </a:r>
          </a:p>
          <a:p>
            <a:pPr algn="just"/>
            <a:r>
              <a:rPr lang="en-US" sz="2000" b="1" dirty="0">
                <a:latin typeface="Times New Roman" panose="02020603050405020304" pitchFamily="18" charset="0"/>
                <a:cs typeface="Times New Roman" panose="02020603050405020304" pitchFamily="18" charset="0"/>
              </a:rPr>
              <a:t>Recommendation System: </a:t>
            </a:r>
            <a:r>
              <a:rPr lang="en-US" sz="2000" dirty="0">
                <a:latin typeface="Times New Roman" panose="02020603050405020304" pitchFamily="18" charset="0"/>
                <a:cs typeface="Times New Roman" panose="02020603050405020304" pitchFamily="18" charset="0"/>
              </a:rPr>
              <a:t>Suggests actions (buy, sell, hold) based on model predictions.</a:t>
            </a:r>
          </a:p>
          <a:p>
            <a:pPr algn="just"/>
            <a:r>
              <a:rPr lang="en-US" sz="2000" b="1" dirty="0">
                <a:latin typeface="Times New Roman" panose="02020603050405020304" pitchFamily="18" charset="0"/>
                <a:cs typeface="Times New Roman" panose="02020603050405020304" pitchFamily="18" charset="0"/>
              </a:rPr>
              <a:t>Dashboard: </a:t>
            </a:r>
            <a:r>
              <a:rPr lang="en-US" sz="2000" dirty="0">
                <a:latin typeface="Times New Roman" panose="02020603050405020304" pitchFamily="18" charset="0"/>
                <a:cs typeface="Times New Roman" panose="02020603050405020304" pitchFamily="18" charset="0"/>
              </a:rPr>
              <a:t>Core dashboard component that coordinates between stock data, model, visualization, and recommendation system for user interface display.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1271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A72FC-02AD-5D3C-9778-A59D4C1F0E9B}"/>
              </a:ext>
            </a:extLst>
          </p:cNvPr>
          <p:cNvSpPr>
            <a:spLocks noGrp="1"/>
          </p:cNvSpPr>
          <p:nvPr>
            <p:ph type="title"/>
          </p:nvPr>
        </p:nvSpPr>
        <p:spPr>
          <a:xfrm>
            <a:off x="213360" y="-934719"/>
            <a:ext cx="11140440" cy="2625408"/>
          </a:xfrm>
        </p:spPr>
        <p:txBody>
          <a:bodyPr>
            <a:normAutofit/>
          </a:bodyPr>
          <a:lstStyle/>
          <a:p>
            <a:r>
              <a:rPr lang="en-IN" sz="2400" b="1" dirty="0">
                <a:solidFill>
                  <a:schemeClr val="accent1">
                    <a:lumMod val="50000"/>
                  </a:schemeClr>
                </a:solidFill>
                <a:latin typeface="Times New Roman" panose="02020603050405020304" pitchFamily="18" charset="0"/>
                <a:cs typeface="Times New Roman" panose="02020603050405020304" pitchFamily="18" charset="0"/>
              </a:rPr>
              <a:t>6.6.4 Use Case Diagram</a:t>
            </a:r>
          </a:p>
        </p:txBody>
      </p:sp>
      <p:pic>
        <p:nvPicPr>
          <p:cNvPr id="4098" name="Picture 2" descr="PlantUML Diagram">
            <a:extLst>
              <a:ext uri="{FF2B5EF4-FFF2-40B4-BE49-F238E27FC236}">
                <a16:creationId xmlns:a16="http://schemas.microsoft.com/office/drawing/2014/main" id="{913C065C-C58C-3BF0-9F5A-618CCDE0266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1059626"/>
            <a:ext cx="5405120" cy="505875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B97160C-7CAA-EF2B-3523-E5799D569C8C}"/>
              </a:ext>
            </a:extLst>
          </p:cNvPr>
          <p:cNvSpPr txBox="1"/>
          <p:nvPr/>
        </p:nvSpPr>
        <p:spPr>
          <a:xfrm>
            <a:off x="6106160" y="944880"/>
            <a:ext cx="5496560" cy="4563765"/>
          </a:xfrm>
          <a:prstGeom prst="rect">
            <a:avLst/>
          </a:prstGeom>
          <a:noFill/>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View Historical Stock Data: </a:t>
            </a:r>
            <a:r>
              <a:rPr lang="en-US" sz="2000" dirty="0">
                <a:latin typeface="Times New Roman" panose="02020603050405020304" pitchFamily="18" charset="0"/>
                <a:cs typeface="Times New Roman" panose="02020603050405020304" pitchFamily="18" charset="0"/>
              </a:rPr>
              <a:t>Users can access historical stock data for analysis.</a:t>
            </a:r>
          </a:p>
          <a:p>
            <a:pPr algn="just"/>
            <a:r>
              <a:rPr lang="en-US" sz="2000" b="1" dirty="0">
                <a:latin typeface="Times New Roman" panose="02020603050405020304" pitchFamily="18" charset="0"/>
                <a:cs typeface="Times New Roman" panose="02020603050405020304" pitchFamily="18" charset="0"/>
              </a:rPr>
              <a:t>Visualize Stock Trends:</a:t>
            </a:r>
            <a:r>
              <a:rPr lang="en-US" sz="2000" dirty="0">
                <a:latin typeface="Times New Roman" panose="02020603050405020304" pitchFamily="18" charset="0"/>
                <a:cs typeface="Times New Roman" panose="02020603050405020304" pitchFamily="18" charset="0"/>
              </a:rPr>
              <a:t> Users can see graphical representations of stock performance over time.</a:t>
            </a:r>
          </a:p>
          <a:p>
            <a:pPr algn="just"/>
            <a:r>
              <a:rPr lang="en-US" sz="2000" b="1" dirty="0">
                <a:latin typeface="Times New Roman" panose="02020603050405020304" pitchFamily="18" charset="0"/>
                <a:cs typeface="Times New Roman" panose="02020603050405020304" pitchFamily="18" charset="0"/>
              </a:rPr>
              <a:t>Forecast Stock Prices: </a:t>
            </a:r>
            <a:r>
              <a:rPr lang="en-US" sz="2000" dirty="0">
                <a:latin typeface="Times New Roman" panose="02020603050405020304" pitchFamily="18" charset="0"/>
                <a:cs typeface="Times New Roman" panose="02020603050405020304" pitchFamily="18" charset="0"/>
              </a:rPr>
              <a:t>Users can generate future price predictions using the SVR model.</a:t>
            </a:r>
          </a:p>
          <a:p>
            <a:pPr algn="just"/>
            <a:r>
              <a:rPr lang="en-US" sz="2000" b="1" dirty="0">
                <a:latin typeface="Times New Roman" panose="02020603050405020304" pitchFamily="18" charset="0"/>
                <a:cs typeface="Times New Roman" panose="02020603050405020304" pitchFamily="18" charset="0"/>
              </a:rPr>
              <a:t>Receive Recommendations</a:t>
            </a:r>
            <a:r>
              <a:rPr lang="en-US" sz="2000" dirty="0">
                <a:latin typeface="Times New Roman" panose="02020603050405020304" pitchFamily="18" charset="0"/>
                <a:cs typeface="Times New Roman" panose="02020603050405020304" pitchFamily="18" charset="0"/>
              </a:rPr>
              <a:t>: Users receive buy, sell, or hold suggestions based on the forecast.</a:t>
            </a:r>
          </a:p>
          <a:p>
            <a:pPr algn="just"/>
            <a:r>
              <a:rPr lang="en-US" sz="2000" b="1" dirty="0">
                <a:latin typeface="Times New Roman" panose="02020603050405020304" pitchFamily="18" charset="0"/>
                <a:cs typeface="Times New Roman" panose="02020603050405020304" pitchFamily="18" charset="0"/>
              </a:rPr>
              <a:t>Perform Statistical Analysis: </a:t>
            </a:r>
            <a:r>
              <a:rPr lang="en-US" sz="2000" dirty="0">
                <a:latin typeface="Times New Roman" panose="02020603050405020304" pitchFamily="18" charset="0"/>
                <a:cs typeface="Times New Roman" panose="02020603050405020304" pitchFamily="18" charset="0"/>
              </a:rPr>
              <a:t>Users can analyze stock metrics such as moving averages, volatility, and correlations.</a:t>
            </a:r>
          </a:p>
          <a:p>
            <a:pPr algn="just"/>
            <a:r>
              <a:rPr lang="en-US" sz="2000" b="1" dirty="0">
                <a:latin typeface="Times New Roman" panose="02020603050405020304" pitchFamily="18" charset="0"/>
                <a:cs typeface="Times New Roman" panose="02020603050405020304" pitchFamily="18" charset="0"/>
              </a:rPr>
              <a:t>Interact with Dash Dashboard:</a:t>
            </a:r>
            <a:r>
              <a:rPr lang="en-US" sz="2000" dirty="0">
                <a:latin typeface="Times New Roman" panose="02020603050405020304" pitchFamily="18" charset="0"/>
                <a:cs typeface="Times New Roman" panose="02020603050405020304" pitchFamily="18" charset="0"/>
              </a:rPr>
              <a:t> Users engage with the interactive dashboard to select stocks, adjust parameters, and customize visualizations.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8773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77103-5310-B9F1-2315-9ABECDF97CA5}"/>
              </a:ext>
            </a:extLst>
          </p:cNvPr>
          <p:cNvSpPr>
            <a:spLocks noGrp="1"/>
          </p:cNvSpPr>
          <p:nvPr>
            <p:ph type="title"/>
          </p:nvPr>
        </p:nvSpPr>
        <p:spPr>
          <a:xfrm>
            <a:off x="294640" y="-355599"/>
            <a:ext cx="11059160" cy="1595119"/>
          </a:xfrm>
        </p:spPr>
        <p:txBody>
          <a:bodyPr>
            <a:normAutofit/>
          </a:bodyPr>
          <a:lstStyle/>
          <a:p>
            <a:r>
              <a:rPr lang="en-IN" sz="2400" b="1" dirty="0">
                <a:solidFill>
                  <a:schemeClr val="accent1">
                    <a:lumMod val="50000"/>
                  </a:schemeClr>
                </a:solidFill>
                <a:latin typeface="Times New Roman" panose="02020603050405020304" pitchFamily="18" charset="0"/>
                <a:cs typeface="Times New Roman" panose="02020603050405020304" pitchFamily="18" charset="0"/>
              </a:rPr>
              <a:t>6.6.5 Sequence Diagram</a:t>
            </a:r>
          </a:p>
        </p:txBody>
      </p:sp>
      <p:pic>
        <p:nvPicPr>
          <p:cNvPr id="5126" name="Picture 6" descr="PlantUML Diagram">
            <a:extLst>
              <a:ext uri="{FF2B5EF4-FFF2-40B4-BE49-F238E27FC236}">
                <a16:creationId xmlns:a16="http://schemas.microsoft.com/office/drawing/2014/main" id="{B8A7DF74-E9E0-ACF6-C7FE-E7E662D0865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65679" y="1063905"/>
            <a:ext cx="6614161" cy="510289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674B403-0E49-D82F-4E1B-F29550E84A19}"/>
              </a:ext>
            </a:extLst>
          </p:cNvPr>
          <p:cNvSpPr txBox="1"/>
          <p:nvPr/>
        </p:nvSpPr>
        <p:spPr>
          <a:xfrm>
            <a:off x="7609840" y="985520"/>
            <a:ext cx="4165601" cy="5547360"/>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16967870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CD49D1-C392-1D92-0AAA-59CDFF4D4A9F}"/>
              </a:ext>
            </a:extLst>
          </p:cNvPr>
          <p:cNvSpPr>
            <a:spLocks noGrp="1"/>
          </p:cNvSpPr>
          <p:nvPr>
            <p:ph idx="1"/>
          </p:nvPr>
        </p:nvSpPr>
        <p:spPr>
          <a:xfrm>
            <a:off x="497840" y="497840"/>
            <a:ext cx="10855960" cy="5679123"/>
          </a:xfrm>
        </p:spPr>
        <p:txBody>
          <a:bodyPr>
            <a:normAutofit fontScale="77500" lnSpcReduction="20000"/>
          </a:bodyPr>
          <a:lstStyle/>
          <a:p>
            <a:pPr marL="0" indent="0" algn="just">
              <a:buNone/>
            </a:pPr>
            <a:r>
              <a:rPr lang="en-US" b="1" dirty="0">
                <a:latin typeface="Times New Roman" panose="02020603050405020304" pitchFamily="18" charset="0"/>
                <a:cs typeface="Times New Roman" panose="02020603050405020304" pitchFamily="18" charset="0"/>
              </a:rPr>
              <a:t>Actors and Participants:</a:t>
            </a:r>
          </a:p>
          <a:p>
            <a:pPr marL="0" indent="0" algn="just">
              <a:buNone/>
            </a:pPr>
            <a:r>
              <a:rPr lang="en-US" dirty="0">
                <a:latin typeface="Times New Roman" panose="02020603050405020304" pitchFamily="18" charset="0"/>
                <a:cs typeface="Times New Roman" panose="02020603050405020304" pitchFamily="18" charset="0"/>
              </a:rPr>
              <a:t>User: The individual interacting with the application.</a:t>
            </a:r>
          </a:p>
          <a:p>
            <a:pPr marL="0" indent="0" algn="just">
              <a:buNone/>
            </a:pPr>
            <a:r>
              <a:rPr lang="en-US" dirty="0">
                <a:latin typeface="Times New Roman" panose="02020603050405020304" pitchFamily="18" charset="0"/>
                <a:cs typeface="Times New Roman" panose="02020603050405020304" pitchFamily="18" charset="0"/>
              </a:rPr>
              <a:t>Dash Application: The main application handling requests.</a:t>
            </a:r>
          </a:p>
          <a:p>
            <a:pPr marL="0" indent="0" algn="just">
              <a:buNone/>
            </a:pPr>
            <a:r>
              <a:rPr lang="en-US" dirty="0">
                <a:latin typeface="Times New Roman" panose="02020603050405020304" pitchFamily="18" charset="0"/>
                <a:cs typeface="Times New Roman" panose="02020603050405020304" pitchFamily="18" charset="0"/>
              </a:rPr>
              <a:t>SVR Model: The machine learning model used for forecasting.</a:t>
            </a:r>
          </a:p>
          <a:p>
            <a:pPr marL="0" indent="0" algn="just">
              <a:buNone/>
            </a:pPr>
            <a:r>
              <a:rPr lang="en-US" dirty="0">
                <a:latin typeface="Times New Roman" panose="02020603050405020304" pitchFamily="18" charset="0"/>
                <a:cs typeface="Times New Roman" panose="02020603050405020304" pitchFamily="18" charset="0"/>
              </a:rPr>
              <a:t>Database: Where historical stock data is stored.</a:t>
            </a:r>
          </a:p>
          <a:p>
            <a:pPr marL="0" indent="0" algn="just">
              <a:buNone/>
            </a:pPr>
            <a:r>
              <a:rPr lang="en-US" dirty="0">
                <a:latin typeface="Times New Roman" panose="02020603050405020304" pitchFamily="18" charset="0"/>
                <a:cs typeface="Times New Roman" panose="02020603050405020304" pitchFamily="18" charset="0"/>
              </a:rPr>
              <a:t>Visualization Tools: Components responsible for rendering data visualizations.</a:t>
            </a:r>
          </a:p>
          <a:p>
            <a:pPr marL="0" indent="0" algn="just">
              <a:buNone/>
            </a:pPr>
            <a:r>
              <a:rPr lang="en-US" dirty="0">
                <a:latin typeface="Times New Roman" panose="02020603050405020304" pitchFamily="18" charset="0"/>
                <a:cs typeface="Times New Roman" panose="02020603050405020304" pitchFamily="18" charset="0"/>
              </a:rPr>
              <a:t>Recommendation System: Generates buy/sell/hold recommendations based on predictions.</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Interactions:</a:t>
            </a:r>
          </a:p>
          <a:p>
            <a:pPr marL="0" indent="0" algn="just">
              <a:buNone/>
            </a:pPr>
            <a:r>
              <a:rPr lang="en-US" dirty="0">
                <a:latin typeface="Times New Roman" panose="02020603050405020304" pitchFamily="18" charset="0"/>
                <a:cs typeface="Times New Roman" panose="02020603050405020304" pitchFamily="18" charset="0"/>
              </a:rPr>
              <a:t>The user launches the application and requests stock data.</a:t>
            </a:r>
          </a:p>
          <a:p>
            <a:pPr marL="0" indent="0" algn="just">
              <a:buNone/>
            </a:pPr>
            <a:r>
              <a:rPr lang="en-US" dirty="0">
                <a:latin typeface="Times New Roman" panose="02020603050405020304" pitchFamily="18" charset="0"/>
                <a:cs typeface="Times New Roman" panose="02020603050405020304" pitchFamily="18" charset="0"/>
              </a:rPr>
              <a:t>The application fetches historical stock data from the database and displays it using visualization tools.</a:t>
            </a:r>
          </a:p>
          <a:p>
            <a:pPr marL="0" indent="0" algn="just">
              <a:buNone/>
            </a:pPr>
            <a:r>
              <a:rPr lang="en-US" dirty="0">
                <a:latin typeface="Times New Roman" panose="02020603050405020304" pitchFamily="18" charset="0"/>
                <a:cs typeface="Times New Roman" panose="02020603050405020304" pitchFamily="18" charset="0"/>
              </a:rPr>
              <a:t>The user can request forecasts, which the application gets from the SVR model.</a:t>
            </a:r>
          </a:p>
          <a:p>
            <a:pPr marL="0" indent="0" algn="just">
              <a:buNone/>
            </a:pPr>
            <a:r>
              <a:rPr lang="en-US" dirty="0">
                <a:latin typeface="Times New Roman" panose="02020603050405020304" pitchFamily="18" charset="0"/>
                <a:cs typeface="Times New Roman" panose="02020603050405020304" pitchFamily="18" charset="0"/>
              </a:rPr>
              <a:t>Predictions are visualized and displayed back to the user.</a:t>
            </a:r>
          </a:p>
          <a:p>
            <a:pPr marL="0" indent="0" algn="just">
              <a:buNone/>
            </a:pPr>
            <a:r>
              <a:rPr lang="en-US" dirty="0">
                <a:latin typeface="Times New Roman" panose="02020603050405020304" pitchFamily="18" charset="0"/>
                <a:cs typeface="Times New Roman" panose="02020603050405020304" pitchFamily="18" charset="0"/>
              </a:rPr>
              <a:t>Finally, the user requests recommendations, which the recommendation system provides based on the SVR's predictions.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09088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EC78E-842F-61E5-6800-66E060F174A2}"/>
              </a:ext>
            </a:extLst>
          </p:cNvPr>
          <p:cNvSpPr>
            <a:spLocks noGrp="1"/>
          </p:cNvSpPr>
          <p:nvPr>
            <p:ph type="title"/>
          </p:nvPr>
        </p:nvSpPr>
        <p:spPr>
          <a:xfrm>
            <a:off x="838200" y="1808480"/>
            <a:ext cx="10515600" cy="2283301"/>
          </a:xfrm>
        </p:spPr>
        <p:txBody>
          <a:bodyPr>
            <a:normAutofit/>
          </a:bodyPr>
          <a:lstStyle/>
          <a:p>
            <a:pPr algn="ctr"/>
            <a:r>
              <a:rPr lang="en-IN" sz="8800" b="1" dirty="0">
                <a:solidFill>
                  <a:srgbClr val="002060"/>
                </a:solidFill>
                <a:latin typeface="Times New Roman" panose="02020603050405020304" pitchFamily="18" charset="0"/>
                <a:cs typeface="Times New Roman" panose="02020603050405020304" pitchFamily="18" charset="0"/>
              </a:rPr>
              <a:t>Thank you</a:t>
            </a:r>
            <a:br>
              <a:rPr lang="en-IN" sz="4400" dirty="0"/>
            </a:br>
            <a:endParaRPr lang="en-IN" dirty="0"/>
          </a:p>
        </p:txBody>
      </p:sp>
    </p:spTree>
    <p:extLst>
      <p:ext uri="{BB962C8B-B14F-4D97-AF65-F5344CB8AC3E}">
        <p14:creationId xmlns:p14="http://schemas.microsoft.com/office/powerpoint/2010/main" val="11056498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711</TotalTime>
  <Words>2657</Words>
  <Application>Microsoft Office PowerPoint</Application>
  <PresentationFormat>Widescreen</PresentationFormat>
  <Paragraphs>196</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Times New Roman</vt:lpstr>
      <vt:lpstr>Office Theme</vt:lpstr>
      <vt:lpstr>VISUALISING AND FORECASTING STOCKS USING DASH</vt:lpstr>
      <vt:lpstr>PowerPoint Presentation</vt:lpstr>
      <vt:lpstr>1. Introduction</vt:lpstr>
      <vt:lpstr>PowerPoint Presentation</vt:lpstr>
      <vt:lpstr>1.3 Aim:</vt:lpstr>
      <vt:lpstr>2. Methodology </vt:lpstr>
      <vt:lpstr>PowerPoint Presentation</vt:lpstr>
      <vt:lpstr>3. Technologies</vt:lpstr>
      <vt:lpstr>4. Requirements</vt:lpstr>
      <vt:lpstr>4.2 Hardware Requirements</vt:lpstr>
      <vt:lpstr>5. System Analysis</vt:lpstr>
      <vt:lpstr>PowerPoint Presentation</vt:lpstr>
      <vt:lpstr>PowerPoint Presentation</vt:lpstr>
      <vt:lpstr>PowerPoint Presentation</vt:lpstr>
      <vt:lpstr>PowerPoint Presentation</vt:lpstr>
      <vt:lpstr>PowerPoint Presentation</vt:lpstr>
      <vt:lpstr>PowerPoint Presentation</vt:lpstr>
      <vt:lpstr>6.Project Architecture </vt:lpstr>
      <vt:lpstr>6.6.2 Data flow Diagram</vt:lpstr>
      <vt:lpstr>6.6.3 Class Diagram</vt:lpstr>
      <vt:lpstr>6.6.4 Use Case Diagram</vt:lpstr>
      <vt:lpstr>6.6.5 Sequence Diagram</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VAULT</dc:title>
  <dc:creator>MRUH</dc:creator>
  <cp:lastModifiedBy>Akshaya Ponnam</cp:lastModifiedBy>
  <cp:revision>28</cp:revision>
  <dcterms:created xsi:type="dcterms:W3CDTF">2024-02-28T18:45:54Z</dcterms:created>
  <dcterms:modified xsi:type="dcterms:W3CDTF">2024-10-25T13:41:26Z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c3bc96b50126489cac4635313cb49982</vt:lpwstr>
  </property>
</Properties>
</file>